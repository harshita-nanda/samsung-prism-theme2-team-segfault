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67" r:id="rId2"/>
    <p:sldId id="257" r:id="rId3"/>
    <p:sldId id="258" r:id="rId4"/>
    <p:sldId id="259" r:id="rId5"/>
    <p:sldId id="260" r:id="rId6"/>
    <p:sldId id="261" r:id="rId7"/>
    <p:sldId id="262" r:id="rId8"/>
    <p:sldId id="263" r:id="rId9"/>
    <p:sldId id="264" r:id="rId10"/>
    <p:sldId id="271" r:id="rId11"/>
  </p:sldIdLst>
  <p:sldSz cx="12192000" cy="6858000"/>
  <p:notesSz cx="6858000" cy="9144000"/>
  <p:embeddedFontLst>
    <p:embeddedFont>
      <p:font typeface="Inter"/>
      <p:bold r:id="rId1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90" d="100"/>
          <a:sy n="90" d="100"/>
        </p:scale>
        <p:origin x="370" y="67"/>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137B002-BD51-4703-A76F-227916980605}" type="datetimeFigureOut">
              <a:rPr lang="en-GB" smtClean="0"/>
              <a:t>27/09/2026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804F117-C0D6-4C0D-89D4-18CF7E0014BC}" type="slidenum">
              <a:rPr lang="en-GB" smtClean="0"/>
              <a:t>‹#›</a:t>
            </a:fld>
            <a:endParaRPr lang="en-GB"/>
          </a:p>
        </p:txBody>
      </p:sp>
    </p:spTree>
    <p:extLst>
      <p:ext uri="{BB962C8B-B14F-4D97-AF65-F5344CB8AC3E}">
        <p14:creationId xmlns:p14="http://schemas.microsoft.com/office/powerpoint/2010/main" val="25103420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slide for the 3rd edition of the PRISM Generative AI Hackathon. Replace the SAMSUNG PRISM pill with the official PRISM logo image if you have the asset. Confirm the academic year label (2026-27) before circulating.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900046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7.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image" Target="../media/image17.png"/><Relationship Id="rId1" Type="http://schemas.openxmlformats.org/officeDocument/2006/relationships/slideLayout" Target="../slideLayouts/slideLayout7.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7" Type="http://schemas.openxmlformats.org/officeDocument/2006/relationships/image" Target="../media/image28.png"/><Relationship Id="rId2" Type="http://schemas.openxmlformats.org/officeDocument/2006/relationships/image" Target="../media/image23.png"/><Relationship Id="rId1" Type="http://schemas.openxmlformats.org/officeDocument/2006/relationships/slideLayout" Target="../slideLayouts/slideLayout7.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777240" y="676656"/>
            <a:ext cx="2423160" cy="347472"/>
          </a:xfrm>
          <a:prstGeom prst="roundRect">
            <a:avLst>
              <a:gd name="adj" fmla="val 50000"/>
            </a:avLst>
          </a:prstGeom>
          <a:solidFill>
            <a:srgbClr val="FFFFFF"/>
          </a:solidFill>
          <a:ln w="12700">
            <a:solidFill>
              <a:srgbClr val="D9D3F0"/>
            </a:solidFill>
            <a:prstDash val="solid"/>
          </a:ln>
        </p:spPr>
      </p:sp>
      <p:sp>
        <p:nvSpPr>
          <p:cNvPr id="3" name="Text 1"/>
          <p:cNvSpPr txBox="1"/>
          <p:nvPr/>
        </p:nvSpPr>
        <p:spPr>
          <a:xfrm>
            <a:off x="777240" y="676656"/>
            <a:ext cx="2423160" cy="347472"/>
          </a:xfrm>
          <a:prstGeom prst="rect">
            <a:avLst/>
          </a:prstGeom>
          <a:noFill/>
          <a:ln/>
        </p:spPr>
        <p:txBody>
          <a:bodyPr wrap="square" lIns="0" tIns="0" rIns="0" bIns="0" rtlCol="0" anchor="ctr"/>
          <a:lstStyle/>
          <a:p>
            <a:pPr marL="0" indent="0" algn="ctr">
              <a:buNone/>
            </a:pPr>
            <a:r>
              <a:rPr lang="en-US" sz="1100" b="1" kern="0" spc="110" dirty="0">
                <a:solidFill>
                  <a:srgbClr val="6D28D9"/>
                </a:solidFill>
                <a:latin typeface="Arial" pitchFamily="34" charset="0"/>
                <a:ea typeface="Arial" pitchFamily="34" charset="-122"/>
                <a:cs typeface="Arial" pitchFamily="34" charset="-120"/>
              </a:rPr>
              <a:t>SAMSUNG PRISM</a:t>
            </a:r>
            <a:endParaRPr lang="en-US" sz="1100" dirty="0"/>
          </a:p>
        </p:txBody>
      </p:sp>
      <p:sp>
        <p:nvSpPr>
          <p:cNvPr id="4" name="Text 2"/>
          <p:cNvSpPr txBox="1"/>
          <p:nvPr/>
        </p:nvSpPr>
        <p:spPr>
          <a:xfrm>
            <a:off x="777240" y="1207008"/>
            <a:ext cx="6126480" cy="749808"/>
          </a:xfrm>
          <a:prstGeom prst="rect">
            <a:avLst/>
          </a:prstGeom>
          <a:noFill/>
          <a:ln/>
        </p:spPr>
        <p:txBody>
          <a:bodyPr wrap="square" lIns="0" tIns="0" rIns="0" bIns="0" rtlCol="0" anchor="ctr"/>
          <a:lstStyle/>
          <a:p>
            <a:pPr marL="0" indent="0">
              <a:buNone/>
            </a:pPr>
            <a:r>
              <a:rPr lang="en-US" sz="5000" b="1" dirty="0">
                <a:solidFill>
                  <a:srgbClr val="14142B"/>
                </a:solidFill>
                <a:latin typeface="Arial" pitchFamily="34" charset="0"/>
                <a:ea typeface="Arial" pitchFamily="34" charset="-122"/>
                <a:cs typeface="Arial" pitchFamily="34" charset="-120"/>
              </a:rPr>
              <a:t>Generative AI</a:t>
            </a:r>
            <a:endParaRPr lang="en-US" sz="5000" dirty="0"/>
          </a:p>
        </p:txBody>
      </p:sp>
      <p:sp>
        <p:nvSpPr>
          <p:cNvPr id="5" name="Text 3"/>
          <p:cNvSpPr txBox="1"/>
          <p:nvPr/>
        </p:nvSpPr>
        <p:spPr>
          <a:xfrm>
            <a:off x="777240" y="1901952"/>
            <a:ext cx="6126480" cy="749808"/>
          </a:xfrm>
          <a:prstGeom prst="rect">
            <a:avLst/>
          </a:prstGeom>
          <a:noFill/>
          <a:ln/>
        </p:spPr>
        <p:txBody>
          <a:bodyPr wrap="square" lIns="0" tIns="0" rIns="0" bIns="0" rtlCol="0" anchor="ctr"/>
          <a:lstStyle/>
          <a:p>
            <a:pPr marL="0" indent="0">
              <a:buNone/>
            </a:pPr>
            <a:r>
              <a:rPr lang="en-US" sz="5000" b="1" dirty="0">
                <a:solidFill>
                  <a:srgbClr val="6D28D9"/>
                </a:solidFill>
                <a:latin typeface="Arial" pitchFamily="34" charset="0"/>
                <a:ea typeface="Arial" pitchFamily="34" charset="-122"/>
                <a:cs typeface="Arial" pitchFamily="34" charset="-120"/>
              </a:rPr>
              <a:t>Hackathon</a:t>
            </a:r>
            <a:endParaRPr lang="en-US" sz="5000" dirty="0"/>
          </a:p>
        </p:txBody>
      </p:sp>
      <p:sp>
        <p:nvSpPr>
          <p:cNvPr id="6" name="Text 4"/>
          <p:cNvSpPr txBox="1"/>
          <p:nvPr/>
        </p:nvSpPr>
        <p:spPr>
          <a:xfrm>
            <a:off x="777240" y="2724912"/>
            <a:ext cx="6126480" cy="457200"/>
          </a:xfrm>
          <a:prstGeom prst="rect">
            <a:avLst/>
          </a:prstGeom>
          <a:noFill/>
          <a:ln/>
        </p:spPr>
        <p:txBody>
          <a:bodyPr wrap="square" lIns="0" tIns="0" rIns="0" bIns="0" rtlCol="0" anchor="ctr"/>
          <a:lstStyle/>
          <a:p>
            <a:pPr marL="0" indent="0">
              <a:buNone/>
            </a:pPr>
            <a:r>
              <a:rPr lang="en-US" sz="2500" b="1" dirty="0">
                <a:solidFill>
                  <a:srgbClr val="14142B"/>
                </a:solidFill>
                <a:latin typeface="Arial" pitchFamily="34" charset="0"/>
                <a:ea typeface="Arial" pitchFamily="34" charset="-122"/>
                <a:cs typeface="Arial" pitchFamily="34" charset="-120"/>
              </a:rPr>
              <a:t>3rd Edition</a:t>
            </a:r>
            <a:r>
              <a:rPr lang="en-US" sz="2000" dirty="0">
                <a:solidFill>
                  <a:srgbClr val="63637E"/>
                </a:solidFill>
                <a:latin typeface="Calibri" pitchFamily="34" charset="0"/>
                <a:ea typeface="Calibri" pitchFamily="34" charset="-122"/>
                <a:cs typeface="Calibri" pitchFamily="34" charset="-120"/>
              </a:rPr>
              <a:t>   2026 – 27</a:t>
            </a:r>
            <a:endParaRPr lang="en-US" sz="2500" dirty="0"/>
          </a:p>
        </p:txBody>
      </p:sp>
      <p:sp>
        <p:nvSpPr>
          <p:cNvPr id="7" name="Text 5"/>
          <p:cNvSpPr txBox="1"/>
          <p:nvPr/>
        </p:nvSpPr>
        <p:spPr>
          <a:xfrm>
            <a:off x="777240" y="3310128"/>
            <a:ext cx="5852160" cy="777240"/>
          </a:xfrm>
          <a:prstGeom prst="rect">
            <a:avLst/>
          </a:prstGeom>
          <a:noFill/>
          <a:ln/>
        </p:spPr>
        <p:txBody>
          <a:bodyPr wrap="square" lIns="0" tIns="0" rIns="0" bIns="0" rtlCol="0" anchor="t"/>
          <a:lstStyle/>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Theme ID – Guided Troubleshooting</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Team Name - </a:t>
            </a:r>
            <a:r>
              <a:rPr lang="en-US" sz="1600" dirty="0" err="1">
                <a:solidFill>
                  <a:srgbClr val="63637E"/>
                </a:solidFill>
                <a:latin typeface="Calibri" pitchFamily="34" charset="0"/>
                <a:ea typeface="Calibri" pitchFamily="34" charset="-122"/>
                <a:cs typeface="Calibri" pitchFamily="34" charset="-120"/>
              </a:rPr>
              <a:t>SegFault</a:t>
            </a:r>
            <a:endParaRPr lang="en-US" sz="1600" dirty="0">
              <a:solidFill>
                <a:srgbClr val="63637E"/>
              </a:solidFill>
              <a:latin typeface="Calibri" pitchFamily="34" charset="0"/>
              <a:ea typeface="Calibri" pitchFamily="34" charset="-122"/>
              <a:cs typeface="Calibri" pitchFamily="34" charset="-120"/>
            </a:endParaRP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College Name – Ramaiah Institute of Technology</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1- Harshita Nanda &amp;1MS25IS048@msrit.edu</a:t>
            </a:r>
          </a:p>
          <a:p>
            <a:pPr marL="177800" indent="-177800">
              <a:spcAft>
                <a:spcPts val="500"/>
              </a:spcAft>
              <a:buSzPct val="100000"/>
              <a:buChar char="•"/>
            </a:pPr>
            <a:r>
              <a:rPr lang="en-US" sz="1600" dirty="0">
                <a:solidFill>
                  <a:srgbClr val="63637E"/>
                </a:solidFill>
                <a:latin typeface="Calibri" pitchFamily="34" charset="0"/>
                <a:ea typeface="Calibri" pitchFamily="34" charset="-122"/>
                <a:cs typeface="Calibri" pitchFamily="34" charset="-120"/>
              </a:rPr>
              <a:t>Member Name &amp; Email 2- Angad Boora &amp; 1MS25IS012@msrit.edu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3-  Mansi Saini &amp; 1MS25IS066@msrit.edu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Member Name &amp; Email 4- </a:t>
            </a:r>
            <a:r>
              <a:rPr lang="en-US" sz="1600" dirty="0" err="1">
                <a:solidFill>
                  <a:srgbClr val="63637E"/>
                </a:solidFill>
                <a:latin typeface="Calibri" pitchFamily="34" charset="0"/>
                <a:ea typeface="Calibri" pitchFamily="34" charset="-122"/>
                <a:cs typeface="Calibri" pitchFamily="34" charset="-120"/>
              </a:rPr>
              <a:t>Madhuresh</a:t>
            </a:r>
            <a:r>
              <a:rPr lang="en-US" sz="1600" dirty="0">
                <a:solidFill>
                  <a:srgbClr val="63637E"/>
                </a:solidFill>
                <a:latin typeface="Calibri" pitchFamily="34" charset="0"/>
                <a:ea typeface="Calibri" pitchFamily="34" charset="-122"/>
                <a:cs typeface="Calibri" pitchFamily="34" charset="-120"/>
              </a:rPr>
              <a:t> &amp; 1MS25IS061@msrit.edu</a:t>
            </a:r>
          </a:p>
          <a:p>
            <a:pPr marL="177800" indent="-177800">
              <a:spcAft>
                <a:spcPts val="500"/>
              </a:spcAft>
              <a:buSzPct val="100000"/>
              <a:buFontTx/>
              <a:buChar char="•"/>
            </a:pPr>
            <a:r>
              <a:rPr lang="en-US" sz="1600" dirty="0">
                <a:solidFill>
                  <a:srgbClr val="63637E"/>
                </a:solidFill>
                <a:latin typeface="Calibri" pitchFamily="34" charset="0"/>
                <a:ea typeface="Calibri" pitchFamily="34" charset="-122"/>
                <a:cs typeface="Calibri" pitchFamily="34" charset="-120"/>
              </a:rPr>
              <a:t>Submission </a:t>
            </a:r>
            <a:r>
              <a:rPr lang="en-US" sz="1600" dirty="0" err="1">
                <a:solidFill>
                  <a:srgbClr val="63637E"/>
                </a:solidFill>
                <a:latin typeface="Calibri" pitchFamily="34" charset="0"/>
                <a:ea typeface="Calibri" pitchFamily="34" charset="-122"/>
                <a:cs typeface="Calibri" pitchFamily="34" charset="-120"/>
              </a:rPr>
              <a:t>Github</a:t>
            </a:r>
            <a:r>
              <a:rPr lang="en-US" sz="1600" dirty="0">
                <a:solidFill>
                  <a:srgbClr val="63637E"/>
                </a:solidFill>
                <a:latin typeface="Calibri" pitchFamily="34" charset="0"/>
                <a:ea typeface="Calibri" pitchFamily="34" charset="-122"/>
                <a:cs typeface="Calibri" pitchFamily="34" charset="-120"/>
              </a:rPr>
              <a:t> link -  </a:t>
            </a:r>
          </a:p>
          <a:p>
            <a:pPr marL="177800" indent="-177800">
              <a:spcAft>
                <a:spcPts val="500"/>
              </a:spcAft>
              <a:buSzPct val="100000"/>
              <a:buChar char="•"/>
            </a:pPr>
            <a:endParaRPr lang="en-US" sz="1600" dirty="0">
              <a:solidFill>
                <a:srgbClr val="63637E"/>
              </a:solidFill>
              <a:latin typeface="Calibri" pitchFamily="34" charset="0"/>
              <a:ea typeface="Calibri" pitchFamily="34" charset="-122"/>
              <a:cs typeface="Calibri" pitchFamily="34" charset="-120"/>
            </a:endParaRPr>
          </a:p>
        </p:txBody>
      </p:sp>
      <p:pic>
        <p:nvPicPr>
          <p:cNvPr id="14" name="Image 0" descr="hero_network.png"/>
          <p:cNvPicPr>
            <a:picLocks noChangeAspect="1"/>
          </p:cNvPicPr>
          <p:nvPr/>
        </p:nvPicPr>
        <p:blipFill>
          <a:blip r:embed="rId3"/>
          <a:stretch>
            <a:fillRect/>
          </a:stretch>
        </p:blipFill>
        <p:spPr>
          <a:xfrm>
            <a:off x="7059168" y="1051560"/>
            <a:ext cx="4572000" cy="4572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4830960"/>
            <a:ext cx="5569594" cy="1794420"/>
          </a:xfrm>
          <a:prstGeom prst="roundRect">
            <a:avLst>
              <a:gd name="adj" fmla="val 8492"/>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762000" y="4830960"/>
            <a:ext cx="57150" cy="179442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762000" y="2544960"/>
            <a:ext cx="190500" cy="200025"/>
          </a:xfrm>
          <a:prstGeom prst="rect">
            <a:avLst/>
          </a:prstGeom>
        </p:spPr>
      </p:pic>
      <p:pic>
        <p:nvPicPr>
          <p:cNvPr id="6" name="Picture 5" descr="image.png"/>
          <p:cNvPicPr>
            <a:picLocks noChangeAspect="1"/>
          </p:cNvPicPr>
          <p:nvPr/>
        </p:nvPicPr>
        <p:blipFill>
          <a:blip r:embed="rId2"/>
          <a:stretch>
            <a:fillRect/>
          </a:stretch>
        </p:blipFill>
        <p:spPr>
          <a:xfrm>
            <a:off x="762000" y="3249810"/>
            <a:ext cx="190500" cy="200025"/>
          </a:xfrm>
          <a:prstGeom prst="rect">
            <a:avLst/>
          </a:prstGeom>
        </p:spPr>
      </p:pic>
      <p:pic>
        <p:nvPicPr>
          <p:cNvPr id="7" name="Picture 6" descr="image.png"/>
          <p:cNvPicPr>
            <a:picLocks noChangeAspect="1"/>
          </p:cNvPicPr>
          <p:nvPr/>
        </p:nvPicPr>
        <p:blipFill>
          <a:blip r:embed="rId2"/>
          <a:stretch>
            <a:fillRect/>
          </a:stretch>
        </p:blipFill>
        <p:spPr>
          <a:xfrm>
            <a:off x="762000" y="3954660"/>
            <a:ext cx="190500" cy="200025"/>
          </a:xfrm>
          <a:prstGeom prst="rect">
            <a:avLst/>
          </a:prstGeom>
        </p:spPr>
      </p:pic>
      <p:sp>
        <p:nvSpPr>
          <p:cNvPr id="8" name="TextBox 7"/>
          <p:cNvSpPr txBox="1"/>
          <p:nvPr/>
        </p:nvSpPr>
        <p:spPr>
          <a:xfrm>
            <a:off x="762000" y="609600"/>
            <a:ext cx="11430000" cy="190500"/>
          </a:xfrm>
          <a:prstGeom prst="rect">
            <a:avLst/>
          </a:prstGeom>
          <a:noFill/>
        </p:spPr>
        <p:txBody>
          <a:bodyPr wrap="none" lIns="0" tIns="0" rIns="0" bIns="0" anchor="t">
            <a:spAutoFit/>
          </a:bodyPr>
          <a:lstStyle/>
          <a:p>
            <a:pPr algn="l"/>
            <a:r>
              <a:rPr sz="1200" b="1" i="0" u="none">
                <a:solidFill>
                  <a:srgbClr val="2563EB"/>
                </a:solidFill>
                <a:latin typeface="Inter"/>
              </a:rPr>
              <a:t>THE CHALLENGE</a:t>
            </a:r>
          </a:p>
        </p:txBody>
      </p:sp>
      <p:sp>
        <p:nvSpPr>
          <p:cNvPr id="9" name="TextBox 8"/>
          <p:cNvSpPr txBox="1"/>
          <p:nvPr/>
        </p:nvSpPr>
        <p:spPr>
          <a:xfrm>
            <a:off x="762000" y="914400"/>
            <a:ext cx="11430000" cy="460920"/>
          </a:xfrm>
          <a:prstGeom prst="rect">
            <a:avLst/>
          </a:prstGeom>
          <a:noFill/>
        </p:spPr>
        <p:txBody>
          <a:bodyPr wrap="none" lIns="0" tIns="0" rIns="0" bIns="0" anchor="t">
            <a:spAutoFit/>
          </a:bodyPr>
          <a:lstStyle/>
          <a:p>
            <a:pPr algn="l">
              <a:lnSpc>
                <a:spcPts val="3629"/>
              </a:lnSpc>
            </a:pPr>
            <a:r>
              <a:rPr sz="3300" b="1" i="0" u="none">
                <a:solidFill>
                  <a:srgbClr val="0F172A"/>
                </a:solidFill>
                <a:latin typeface="Inter"/>
              </a:rPr>
              <a:t>Translating vague complaints into 1-tap actions.</a:t>
            </a:r>
          </a:p>
        </p:txBody>
      </p:sp>
      <p:sp>
        <p:nvSpPr>
          <p:cNvPr id="10" name="TextBox 9"/>
          <p:cNvSpPr txBox="1"/>
          <p:nvPr/>
        </p:nvSpPr>
        <p:spPr>
          <a:xfrm>
            <a:off x="1104900" y="2525910"/>
            <a:ext cx="5321944" cy="514350"/>
          </a:xfrm>
          <a:prstGeom prst="rect">
            <a:avLst/>
          </a:prstGeom>
          <a:noFill/>
        </p:spPr>
        <p:txBody>
          <a:bodyPr wrap="square" lIns="0" tIns="0" rIns="0" bIns="0" anchor="t">
            <a:spAutoFit/>
          </a:bodyPr>
          <a:lstStyle/>
          <a:p>
            <a:pPr algn="l">
              <a:lnSpc>
                <a:spcPts val="2025"/>
              </a:lnSpc>
            </a:pPr>
            <a:r>
              <a:rPr sz="1350" b="1" i="0" u="none">
                <a:solidFill>
                  <a:srgbClr val="0F172A"/>
                </a:solidFill>
                <a:latin typeface="Inter"/>
              </a:rPr>
              <a:t>Colloquial Inputs:</a:t>
            </a:r>
            <a:r>
              <a:rPr sz="1350" b="0" i="0" u="none">
                <a:solidFill>
                  <a:srgbClr val="475569"/>
                </a:solidFill>
                <a:latin typeface="Inter"/>
              </a:rPr>
              <a:t> Users rarely use technical terms ("Screen flickers and battery dies fast").</a:t>
            </a:r>
          </a:p>
        </p:txBody>
      </p:sp>
      <p:sp>
        <p:nvSpPr>
          <p:cNvPr id="11" name="TextBox 10"/>
          <p:cNvSpPr txBox="1"/>
          <p:nvPr/>
        </p:nvSpPr>
        <p:spPr>
          <a:xfrm>
            <a:off x="1104900" y="3230760"/>
            <a:ext cx="5321944" cy="514350"/>
          </a:xfrm>
          <a:prstGeom prst="rect">
            <a:avLst/>
          </a:prstGeom>
          <a:noFill/>
        </p:spPr>
        <p:txBody>
          <a:bodyPr wrap="square" lIns="0" tIns="0" rIns="0" bIns="0" anchor="t">
            <a:spAutoFit/>
          </a:bodyPr>
          <a:lstStyle/>
          <a:p>
            <a:pPr algn="l">
              <a:lnSpc>
                <a:spcPts val="2025"/>
              </a:lnSpc>
            </a:pPr>
            <a:r>
              <a:rPr sz="1350" b="1" i="0" u="none">
                <a:solidFill>
                  <a:srgbClr val="0F172A"/>
                </a:solidFill>
                <a:latin typeface="Inter"/>
              </a:rPr>
              <a:t>Manual Bottleneck:</a:t>
            </a:r>
            <a:r>
              <a:rPr sz="1350" b="0" i="0" u="none">
                <a:solidFill>
                  <a:srgbClr val="475569"/>
                </a:solidFill>
                <a:latin typeface="Inter"/>
              </a:rPr>
              <a:t> Currently requires 15 minutes of human triage per scenario.</a:t>
            </a:r>
          </a:p>
        </p:txBody>
      </p:sp>
      <p:sp>
        <p:nvSpPr>
          <p:cNvPr id="12" name="TextBox 11"/>
          <p:cNvSpPr txBox="1"/>
          <p:nvPr/>
        </p:nvSpPr>
        <p:spPr>
          <a:xfrm>
            <a:off x="1104900" y="3935610"/>
            <a:ext cx="5321944" cy="514350"/>
          </a:xfrm>
          <a:prstGeom prst="rect">
            <a:avLst/>
          </a:prstGeom>
          <a:noFill/>
        </p:spPr>
        <p:txBody>
          <a:bodyPr wrap="square" lIns="0" tIns="0" rIns="0" bIns="0" anchor="t">
            <a:spAutoFit/>
          </a:bodyPr>
          <a:lstStyle/>
          <a:p>
            <a:pPr algn="l">
              <a:lnSpc>
                <a:spcPts val="2025"/>
              </a:lnSpc>
            </a:pPr>
            <a:r>
              <a:rPr sz="1350" b="1" i="0" u="none">
                <a:solidFill>
                  <a:srgbClr val="0F172A"/>
                </a:solidFill>
                <a:latin typeface="Inter"/>
              </a:rPr>
              <a:t>Complex Navigation:</a:t>
            </a:r>
            <a:r>
              <a:rPr sz="1350" b="0" i="0" u="none">
                <a:solidFill>
                  <a:srgbClr val="475569"/>
                </a:solidFill>
                <a:latin typeface="Inter"/>
              </a:rPr>
              <a:t> Forces users to hunt through deeply nested device settings manually.</a:t>
            </a:r>
          </a:p>
        </p:txBody>
      </p:sp>
      <p:sp>
        <p:nvSpPr>
          <p:cNvPr id="13" name="TextBox 12"/>
          <p:cNvSpPr txBox="1"/>
          <p:nvPr/>
        </p:nvSpPr>
        <p:spPr>
          <a:xfrm>
            <a:off x="1123950" y="5135760"/>
            <a:ext cx="6128556" cy="228600"/>
          </a:xfrm>
          <a:prstGeom prst="rect">
            <a:avLst/>
          </a:prstGeom>
          <a:noFill/>
        </p:spPr>
        <p:txBody>
          <a:bodyPr wrap="none" lIns="0" tIns="0" rIns="0" bIns="0" anchor="t">
            <a:spAutoFit/>
          </a:bodyPr>
          <a:lstStyle/>
          <a:p>
            <a:pPr algn="l"/>
            <a:r>
              <a:rPr sz="1500" b="1" i="0" u="none">
                <a:solidFill>
                  <a:srgbClr val="2563EB"/>
                </a:solidFill>
                <a:latin typeface="Inter"/>
              </a:rPr>
              <a:t>OUR OBJECTIVE</a:t>
            </a:r>
          </a:p>
        </p:txBody>
      </p:sp>
      <p:sp>
        <p:nvSpPr>
          <p:cNvPr id="14" name="TextBox 13"/>
          <p:cNvSpPr txBox="1"/>
          <p:nvPr/>
        </p:nvSpPr>
        <p:spPr>
          <a:xfrm>
            <a:off x="1123950" y="5440560"/>
            <a:ext cx="4998094" cy="880020"/>
          </a:xfrm>
          <a:prstGeom prst="rect">
            <a:avLst/>
          </a:prstGeom>
          <a:noFill/>
        </p:spPr>
        <p:txBody>
          <a:bodyPr wrap="square" lIns="0" tIns="0" rIns="0" bIns="0" anchor="t">
            <a:spAutoFit/>
          </a:bodyPr>
          <a:lstStyle/>
          <a:p>
            <a:pPr algn="l">
              <a:lnSpc>
                <a:spcPts val="2310"/>
              </a:lnSpc>
            </a:pPr>
            <a:r>
              <a:rPr sz="1650" b="0" i="0" u="none">
                <a:solidFill>
                  <a:srgbClr val="0F172A"/>
                </a:solidFill>
                <a:latin typeface="Inter"/>
              </a:rPr>
              <a:t>Automated, validated troubleshooting JSON payloads mapped directly to exact Bixby deeplinks.</a:t>
            </a:r>
          </a:p>
        </p:txBody>
      </p:sp>
      <p:pic>
        <p:nvPicPr>
          <p:cNvPr id="15" name="Picture 14" descr="image.png"/>
          <p:cNvPicPr>
            <a:picLocks noChangeAspect="1"/>
          </p:cNvPicPr>
          <p:nvPr/>
        </p:nvPicPr>
        <p:blipFill>
          <a:blip r:embed="rId3"/>
          <a:stretch>
            <a:fillRect/>
          </a:stretch>
        </p:blipFill>
        <p:spPr>
          <a:xfrm>
            <a:off x="6788794" y="2194470"/>
            <a:ext cx="3712964" cy="3810000"/>
          </a:xfrm>
          <a:prstGeom prst="rect">
            <a:avLst/>
          </a:prstGeom>
        </p:spPr>
      </p:pic>
      <p:pic>
        <p:nvPicPr>
          <p:cNvPr id="16" name="Picture 15" descr="image.png"/>
          <p:cNvPicPr>
            <a:picLocks noChangeAspect="1"/>
          </p:cNvPicPr>
          <p:nvPr/>
        </p:nvPicPr>
        <p:blipFill>
          <a:blip r:embed="rId4"/>
          <a:stretch>
            <a:fillRect/>
          </a:stretch>
        </p:blipFill>
        <p:spPr>
          <a:xfrm>
            <a:off x="7226944" y="2270670"/>
            <a:ext cx="3636764" cy="37338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1" y="2023532"/>
            <a:ext cx="4743450" cy="4563535"/>
          </a:xfrm>
          <a:prstGeom prst="roundRect">
            <a:avLst>
              <a:gd name="adj" fmla="val 4469"/>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410326" y="1992327"/>
            <a:ext cx="4850342" cy="4563535"/>
          </a:xfrm>
          <a:prstGeom prst="roundRect">
            <a:avLst>
              <a:gd name="adj" fmla="val 4485"/>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4" name="Picture 3" descr="image.png"/>
          <p:cNvPicPr>
            <a:picLocks noChangeAspect="1"/>
          </p:cNvPicPr>
          <p:nvPr/>
        </p:nvPicPr>
        <p:blipFill>
          <a:blip r:embed="rId2"/>
          <a:stretch>
            <a:fillRect/>
          </a:stretch>
        </p:blipFill>
        <p:spPr>
          <a:xfrm>
            <a:off x="1215666" y="2482305"/>
            <a:ext cx="200025" cy="266700"/>
          </a:xfrm>
          <a:prstGeom prst="rect">
            <a:avLst/>
          </a:prstGeom>
        </p:spPr>
      </p:pic>
      <p:pic>
        <p:nvPicPr>
          <p:cNvPr id="5" name="Picture 4" descr="image.png"/>
          <p:cNvPicPr>
            <a:picLocks noChangeAspect="1"/>
          </p:cNvPicPr>
          <p:nvPr/>
        </p:nvPicPr>
        <p:blipFill>
          <a:blip r:embed="rId3"/>
          <a:stretch>
            <a:fillRect/>
          </a:stretch>
        </p:blipFill>
        <p:spPr>
          <a:xfrm>
            <a:off x="6791325" y="2485510"/>
            <a:ext cx="266700" cy="266700"/>
          </a:xfrm>
          <a:prstGeom prst="rect">
            <a:avLst/>
          </a:prstGeom>
        </p:spPr>
      </p:pic>
      <p:pic>
        <p:nvPicPr>
          <p:cNvPr id="6" name="Picture 5" descr="image.png"/>
          <p:cNvPicPr>
            <a:picLocks noChangeAspect="1"/>
          </p:cNvPicPr>
          <p:nvPr/>
        </p:nvPicPr>
        <p:blipFill>
          <a:blip r:embed="rId4"/>
          <a:stretch>
            <a:fillRect/>
          </a:stretch>
        </p:blipFill>
        <p:spPr>
          <a:xfrm>
            <a:off x="1244240" y="3197510"/>
            <a:ext cx="142875" cy="200025"/>
          </a:xfrm>
          <a:prstGeom prst="rect">
            <a:avLst/>
          </a:prstGeom>
        </p:spPr>
      </p:pic>
      <p:pic>
        <p:nvPicPr>
          <p:cNvPr id="7" name="Picture 6" descr="image.png"/>
          <p:cNvPicPr>
            <a:picLocks noChangeAspect="1"/>
          </p:cNvPicPr>
          <p:nvPr/>
        </p:nvPicPr>
        <p:blipFill>
          <a:blip r:embed="rId4"/>
          <a:stretch>
            <a:fillRect/>
          </a:stretch>
        </p:blipFill>
        <p:spPr>
          <a:xfrm>
            <a:off x="1262062" y="3807622"/>
            <a:ext cx="142875" cy="200025"/>
          </a:xfrm>
          <a:prstGeom prst="rect">
            <a:avLst/>
          </a:prstGeom>
        </p:spPr>
      </p:pic>
      <p:pic>
        <p:nvPicPr>
          <p:cNvPr id="8" name="Picture 7" descr="image.png"/>
          <p:cNvPicPr>
            <a:picLocks noChangeAspect="1"/>
          </p:cNvPicPr>
          <p:nvPr/>
        </p:nvPicPr>
        <p:blipFill>
          <a:blip r:embed="rId4"/>
          <a:stretch>
            <a:fillRect/>
          </a:stretch>
        </p:blipFill>
        <p:spPr>
          <a:xfrm>
            <a:off x="1258357" y="4397103"/>
            <a:ext cx="142875" cy="200025"/>
          </a:xfrm>
          <a:prstGeom prst="rect">
            <a:avLst/>
          </a:prstGeom>
        </p:spPr>
      </p:pic>
      <p:pic>
        <p:nvPicPr>
          <p:cNvPr id="9" name="Picture 8" descr="image.png"/>
          <p:cNvPicPr>
            <a:picLocks noChangeAspect="1"/>
          </p:cNvPicPr>
          <p:nvPr/>
        </p:nvPicPr>
        <p:blipFill>
          <a:blip r:embed="rId4"/>
          <a:stretch>
            <a:fillRect/>
          </a:stretch>
        </p:blipFill>
        <p:spPr>
          <a:xfrm>
            <a:off x="1244239" y="4980805"/>
            <a:ext cx="142875" cy="200025"/>
          </a:xfrm>
          <a:prstGeom prst="rect">
            <a:avLst/>
          </a:prstGeom>
        </p:spPr>
      </p:pic>
      <p:pic>
        <p:nvPicPr>
          <p:cNvPr id="10" name="Picture 9" descr="image.png"/>
          <p:cNvPicPr>
            <a:picLocks noChangeAspect="1"/>
          </p:cNvPicPr>
          <p:nvPr/>
        </p:nvPicPr>
        <p:blipFill>
          <a:blip r:embed="rId5"/>
          <a:stretch>
            <a:fillRect/>
          </a:stretch>
        </p:blipFill>
        <p:spPr>
          <a:xfrm>
            <a:off x="6791325" y="3195122"/>
            <a:ext cx="171450" cy="200025"/>
          </a:xfrm>
          <a:prstGeom prst="rect">
            <a:avLst/>
          </a:prstGeom>
        </p:spPr>
      </p:pic>
      <p:pic>
        <p:nvPicPr>
          <p:cNvPr id="11" name="Picture 10" descr="image.png"/>
          <p:cNvPicPr>
            <a:picLocks noChangeAspect="1"/>
          </p:cNvPicPr>
          <p:nvPr/>
        </p:nvPicPr>
        <p:blipFill>
          <a:blip r:embed="rId5"/>
          <a:stretch>
            <a:fillRect/>
          </a:stretch>
        </p:blipFill>
        <p:spPr>
          <a:xfrm>
            <a:off x="6751107" y="3789907"/>
            <a:ext cx="171450" cy="200025"/>
          </a:xfrm>
          <a:prstGeom prst="rect">
            <a:avLst/>
          </a:prstGeom>
        </p:spPr>
      </p:pic>
      <p:pic>
        <p:nvPicPr>
          <p:cNvPr id="12" name="Picture 11" descr="image.png"/>
          <p:cNvPicPr>
            <a:picLocks noChangeAspect="1"/>
          </p:cNvPicPr>
          <p:nvPr/>
        </p:nvPicPr>
        <p:blipFill>
          <a:blip r:embed="rId5"/>
          <a:stretch>
            <a:fillRect/>
          </a:stretch>
        </p:blipFill>
        <p:spPr>
          <a:xfrm>
            <a:off x="6751107" y="4393677"/>
            <a:ext cx="171450" cy="200025"/>
          </a:xfrm>
          <a:prstGeom prst="rect">
            <a:avLst/>
          </a:prstGeom>
        </p:spPr>
      </p:pic>
      <p:pic>
        <p:nvPicPr>
          <p:cNvPr id="13" name="Picture 12" descr="image.png"/>
          <p:cNvPicPr>
            <a:picLocks noChangeAspect="1"/>
          </p:cNvPicPr>
          <p:nvPr/>
        </p:nvPicPr>
        <p:blipFill>
          <a:blip r:embed="rId5"/>
          <a:stretch>
            <a:fillRect/>
          </a:stretch>
        </p:blipFill>
        <p:spPr>
          <a:xfrm>
            <a:off x="6755339" y="5027629"/>
            <a:ext cx="171450" cy="200025"/>
          </a:xfrm>
          <a:prstGeom prst="rect">
            <a:avLst/>
          </a:prstGeom>
        </p:spPr>
      </p:pic>
      <p:sp>
        <p:nvSpPr>
          <p:cNvPr id="14" name="TextBox 13"/>
          <p:cNvSpPr txBox="1"/>
          <p:nvPr/>
        </p:nvSpPr>
        <p:spPr>
          <a:xfrm>
            <a:off x="-285750" y="609600"/>
            <a:ext cx="12763500" cy="460920"/>
          </a:xfrm>
          <a:prstGeom prst="rect">
            <a:avLst/>
          </a:prstGeom>
          <a:noFill/>
        </p:spPr>
        <p:txBody>
          <a:bodyPr wrap="none" lIns="0" tIns="0" rIns="0" bIns="0" anchor="t">
            <a:spAutoFit/>
          </a:bodyPr>
          <a:lstStyle/>
          <a:p>
            <a:pPr algn="ctr">
              <a:lnSpc>
                <a:spcPts val="3629"/>
              </a:lnSpc>
            </a:pPr>
            <a:r>
              <a:rPr sz="3300" b="1" i="0" u="none">
                <a:solidFill>
                  <a:srgbClr val="0F172A"/>
                </a:solidFill>
                <a:latin typeface="Inter"/>
              </a:rPr>
              <a:t>Existing Solutions vs. Our Engine</a:t>
            </a:r>
          </a:p>
        </p:txBody>
      </p:sp>
      <p:sp>
        <p:nvSpPr>
          <p:cNvPr id="15" name="TextBox 14"/>
          <p:cNvSpPr txBox="1"/>
          <p:nvPr/>
        </p:nvSpPr>
        <p:spPr>
          <a:xfrm>
            <a:off x="1333500" y="1184820"/>
            <a:ext cx="9525000" cy="228600"/>
          </a:xfrm>
          <a:prstGeom prst="rect">
            <a:avLst/>
          </a:prstGeom>
          <a:noFill/>
        </p:spPr>
        <p:txBody>
          <a:bodyPr wrap="none" lIns="0" tIns="0" rIns="0" bIns="0" anchor="t">
            <a:spAutoFit/>
          </a:bodyPr>
          <a:lstStyle/>
          <a:p>
            <a:pPr algn="ctr"/>
            <a:r>
              <a:rPr sz="1500" b="0" i="0" u="none">
                <a:solidFill>
                  <a:srgbClr val="475569"/>
                </a:solidFill>
                <a:latin typeface="Inter"/>
              </a:rPr>
              <a:t>Bridging the gap between unstructured knowledge bases and direct device action.</a:t>
            </a:r>
          </a:p>
        </p:txBody>
      </p:sp>
      <p:sp>
        <p:nvSpPr>
          <p:cNvPr id="16" name="TextBox 15"/>
          <p:cNvSpPr txBox="1"/>
          <p:nvPr/>
        </p:nvSpPr>
        <p:spPr>
          <a:xfrm>
            <a:off x="1545338" y="2482305"/>
            <a:ext cx="5158144" cy="323850"/>
          </a:xfrm>
          <a:prstGeom prst="rect">
            <a:avLst/>
          </a:prstGeom>
          <a:noFill/>
        </p:spPr>
        <p:txBody>
          <a:bodyPr wrap="none" lIns="0" tIns="0" rIns="0" bIns="0" anchor="ctr">
            <a:spAutoFit/>
          </a:bodyPr>
          <a:lstStyle/>
          <a:p>
            <a:pPr algn="l"/>
            <a:r>
              <a:rPr sz="2100" b="1" i="0" u="none" dirty="0">
                <a:solidFill>
                  <a:srgbClr val="64748B"/>
                </a:solidFill>
                <a:latin typeface="Inter"/>
              </a:rPr>
              <a:t>The Bottleneck</a:t>
            </a:r>
          </a:p>
        </p:txBody>
      </p:sp>
      <p:sp>
        <p:nvSpPr>
          <p:cNvPr id="17" name="TextBox 16"/>
          <p:cNvSpPr txBox="1"/>
          <p:nvPr/>
        </p:nvSpPr>
        <p:spPr>
          <a:xfrm>
            <a:off x="7145868" y="2366432"/>
            <a:ext cx="5019675" cy="323850"/>
          </a:xfrm>
          <a:prstGeom prst="rect">
            <a:avLst/>
          </a:prstGeom>
          <a:noFill/>
        </p:spPr>
        <p:txBody>
          <a:bodyPr wrap="none" lIns="0" tIns="0" rIns="0" bIns="0" anchor="ctr">
            <a:spAutoFit/>
          </a:bodyPr>
          <a:lstStyle/>
          <a:p>
            <a:pPr algn="l"/>
            <a:r>
              <a:rPr sz="2100" b="1" i="0" u="none" dirty="0">
                <a:solidFill>
                  <a:srgbClr val="2563EB"/>
                </a:solidFill>
                <a:latin typeface="Inter"/>
              </a:rPr>
              <a:t>Our Solution</a:t>
            </a:r>
          </a:p>
        </p:txBody>
      </p:sp>
      <p:sp>
        <p:nvSpPr>
          <p:cNvPr id="18" name="TextBox 17"/>
          <p:cNvSpPr txBox="1"/>
          <p:nvPr/>
        </p:nvSpPr>
        <p:spPr>
          <a:xfrm>
            <a:off x="1477246" y="3197510"/>
            <a:ext cx="3981450" cy="514350"/>
          </a:xfrm>
          <a:prstGeom prst="rect">
            <a:avLst/>
          </a:prstGeom>
          <a:noFill/>
        </p:spPr>
        <p:txBody>
          <a:bodyPr wrap="square" lIns="0" tIns="0" rIns="0" bIns="0" anchor="t">
            <a:spAutoFit/>
          </a:bodyPr>
          <a:lstStyle/>
          <a:p>
            <a:pPr algn="l">
              <a:lnSpc>
                <a:spcPts val="2025"/>
              </a:lnSpc>
            </a:pPr>
            <a:r>
              <a:rPr sz="1350" b="0" i="0" u="none" dirty="0">
                <a:solidFill>
                  <a:srgbClr val="475569"/>
                </a:solidFill>
                <a:latin typeface="Inter"/>
              </a:rPr>
              <a:t>Support heavily relies on unstructured SIIS knowledge-base articles.</a:t>
            </a:r>
          </a:p>
        </p:txBody>
      </p:sp>
      <p:sp>
        <p:nvSpPr>
          <p:cNvPr id="19" name="TextBox 18"/>
          <p:cNvSpPr txBox="1"/>
          <p:nvPr/>
        </p:nvSpPr>
        <p:spPr>
          <a:xfrm>
            <a:off x="1477246" y="3769576"/>
            <a:ext cx="3981450" cy="514350"/>
          </a:xfrm>
          <a:prstGeom prst="rect">
            <a:avLst/>
          </a:prstGeom>
          <a:noFill/>
        </p:spPr>
        <p:txBody>
          <a:bodyPr wrap="square" lIns="0" tIns="0" rIns="0" bIns="0" anchor="t">
            <a:spAutoFit/>
          </a:bodyPr>
          <a:lstStyle/>
          <a:p>
            <a:pPr algn="l">
              <a:lnSpc>
                <a:spcPts val="2025"/>
              </a:lnSpc>
            </a:pPr>
            <a:r>
              <a:rPr sz="1350" b="0" i="0" u="none" dirty="0">
                <a:solidFill>
                  <a:srgbClr val="475569"/>
                </a:solidFill>
                <a:latin typeface="Inter"/>
              </a:rPr>
              <a:t>High-latency human interpretation takes roughly 15 minutes per scenario.</a:t>
            </a:r>
          </a:p>
        </p:txBody>
      </p:sp>
      <p:sp>
        <p:nvSpPr>
          <p:cNvPr id="20" name="TextBox 19"/>
          <p:cNvSpPr txBox="1"/>
          <p:nvPr/>
        </p:nvSpPr>
        <p:spPr>
          <a:xfrm>
            <a:off x="1477246" y="4318290"/>
            <a:ext cx="3981450" cy="514350"/>
          </a:xfrm>
          <a:prstGeom prst="rect">
            <a:avLst/>
          </a:prstGeom>
          <a:noFill/>
        </p:spPr>
        <p:txBody>
          <a:bodyPr wrap="square" lIns="0" tIns="0" rIns="0" bIns="0" anchor="t">
            <a:spAutoFit/>
          </a:bodyPr>
          <a:lstStyle/>
          <a:p>
            <a:pPr algn="l">
              <a:lnSpc>
                <a:spcPts val="2025"/>
              </a:lnSpc>
            </a:pPr>
            <a:r>
              <a:rPr sz="1350" b="0" i="0" u="none" dirty="0">
                <a:solidFill>
                  <a:srgbClr val="475569"/>
                </a:solidFill>
                <a:latin typeface="Inter"/>
              </a:rPr>
              <a:t>Users are forced into text-heavy, manual navigation through complex nested settings.</a:t>
            </a:r>
          </a:p>
        </p:txBody>
      </p:sp>
      <p:sp>
        <p:nvSpPr>
          <p:cNvPr id="21" name="TextBox 20"/>
          <p:cNvSpPr txBox="1"/>
          <p:nvPr/>
        </p:nvSpPr>
        <p:spPr>
          <a:xfrm>
            <a:off x="1477246" y="4937364"/>
            <a:ext cx="3981450" cy="514350"/>
          </a:xfrm>
          <a:prstGeom prst="rect">
            <a:avLst/>
          </a:prstGeom>
          <a:noFill/>
        </p:spPr>
        <p:txBody>
          <a:bodyPr wrap="square" lIns="0" tIns="0" rIns="0" bIns="0" anchor="t">
            <a:spAutoFit/>
          </a:bodyPr>
          <a:lstStyle/>
          <a:p>
            <a:pPr algn="l">
              <a:lnSpc>
                <a:spcPts val="2025"/>
              </a:lnSpc>
            </a:pPr>
            <a:r>
              <a:rPr sz="1350" b="0" i="0" u="none" dirty="0">
                <a:solidFill>
                  <a:srgbClr val="475569"/>
                </a:solidFill>
                <a:latin typeface="Inter"/>
              </a:rPr>
              <a:t>Standard LLM approaches suffer from hallucinated generic support URLs.</a:t>
            </a:r>
          </a:p>
        </p:txBody>
      </p:sp>
      <p:sp>
        <p:nvSpPr>
          <p:cNvPr id="22" name="TextBox 21"/>
          <p:cNvSpPr txBox="1"/>
          <p:nvPr/>
        </p:nvSpPr>
        <p:spPr>
          <a:xfrm>
            <a:off x="7052906" y="3166020"/>
            <a:ext cx="3952875" cy="514350"/>
          </a:xfrm>
          <a:prstGeom prst="rect">
            <a:avLst/>
          </a:prstGeom>
          <a:noFill/>
        </p:spPr>
        <p:txBody>
          <a:bodyPr wrap="square" lIns="0" tIns="0" rIns="0" bIns="0" anchor="t">
            <a:spAutoFit/>
          </a:bodyPr>
          <a:lstStyle/>
          <a:p>
            <a:pPr algn="l">
              <a:lnSpc>
                <a:spcPts val="2025"/>
              </a:lnSpc>
            </a:pPr>
            <a:r>
              <a:rPr sz="1350" b="0" i="0" u="none" dirty="0">
                <a:solidFill>
                  <a:srgbClr val="F8FAFC"/>
                </a:solidFill>
                <a:latin typeface="Inter"/>
              </a:rPr>
              <a:t>Generates cleanly structured Goal JSON objects with atomic, categorized steps.</a:t>
            </a:r>
          </a:p>
        </p:txBody>
      </p:sp>
      <p:sp>
        <p:nvSpPr>
          <p:cNvPr id="23" name="TextBox 22"/>
          <p:cNvSpPr txBox="1"/>
          <p:nvPr/>
        </p:nvSpPr>
        <p:spPr>
          <a:xfrm>
            <a:off x="7058025" y="3761588"/>
            <a:ext cx="3952875" cy="514350"/>
          </a:xfrm>
          <a:prstGeom prst="rect">
            <a:avLst/>
          </a:prstGeom>
          <a:noFill/>
        </p:spPr>
        <p:txBody>
          <a:bodyPr wrap="square" lIns="0" tIns="0" rIns="0" bIns="0" anchor="t">
            <a:spAutoFit/>
          </a:bodyPr>
          <a:lstStyle/>
          <a:p>
            <a:pPr algn="l">
              <a:lnSpc>
                <a:spcPts val="2025"/>
              </a:lnSpc>
            </a:pPr>
            <a:r>
              <a:rPr sz="1350" b="0" i="0" u="none" dirty="0">
                <a:solidFill>
                  <a:srgbClr val="F8FAFC"/>
                </a:solidFill>
                <a:latin typeface="Inter"/>
              </a:rPr>
              <a:t>Achieves sub-300ms fast-path responses via an intelligent semantic caching layer.</a:t>
            </a:r>
          </a:p>
        </p:txBody>
      </p:sp>
      <p:sp>
        <p:nvSpPr>
          <p:cNvPr id="24" name="TextBox 23"/>
          <p:cNvSpPr txBox="1"/>
          <p:nvPr/>
        </p:nvSpPr>
        <p:spPr>
          <a:xfrm>
            <a:off x="7052905" y="4334933"/>
            <a:ext cx="3952875" cy="514350"/>
          </a:xfrm>
          <a:prstGeom prst="rect">
            <a:avLst/>
          </a:prstGeom>
          <a:noFill/>
        </p:spPr>
        <p:txBody>
          <a:bodyPr wrap="square" lIns="0" tIns="0" rIns="0" bIns="0" anchor="t">
            <a:spAutoFit/>
          </a:bodyPr>
          <a:lstStyle/>
          <a:p>
            <a:pPr algn="l">
              <a:lnSpc>
                <a:spcPts val="2025"/>
              </a:lnSpc>
            </a:pPr>
            <a:r>
              <a:rPr sz="1350" b="0" i="0" u="none" dirty="0">
                <a:solidFill>
                  <a:srgbClr val="F8FAFC"/>
                </a:solidFill>
                <a:latin typeface="Inter"/>
              </a:rPr>
              <a:t>Delivers verified, 1-tap actionable `</a:t>
            </a:r>
            <a:r>
              <a:rPr sz="1350" b="0" i="0" u="none" dirty="0" err="1">
                <a:solidFill>
                  <a:srgbClr val="F8FAFC"/>
                </a:solidFill>
                <a:latin typeface="Inter"/>
              </a:rPr>
              <a:t>bixby</a:t>
            </a:r>
            <a:r>
              <a:rPr sz="1350" b="0" i="0" u="none" dirty="0">
                <a:solidFill>
                  <a:srgbClr val="F8FAFC"/>
                </a:solidFill>
                <a:latin typeface="Inter"/>
              </a:rPr>
              <a:t>://` </a:t>
            </a:r>
            <a:r>
              <a:rPr sz="1350" b="0" i="0" u="none" dirty="0" err="1">
                <a:solidFill>
                  <a:srgbClr val="F8FAFC"/>
                </a:solidFill>
                <a:latin typeface="Inter"/>
              </a:rPr>
              <a:t>deeplinks</a:t>
            </a:r>
            <a:r>
              <a:rPr sz="1350" b="0" i="0" u="none" dirty="0">
                <a:solidFill>
                  <a:srgbClr val="F8FAFC"/>
                </a:solidFill>
                <a:latin typeface="Inter"/>
              </a:rPr>
              <a:t> mapped to the exact screen.</a:t>
            </a:r>
          </a:p>
        </p:txBody>
      </p:sp>
      <p:sp>
        <p:nvSpPr>
          <p:cNvPr id="25" name="TextBox 24"/>
          <p:cNvSpPr txBox="1"/>
          <p:nvPr/>
        </p:nvSpPr>
        <p:spPr>
          <a:xfrm>
            <a:off x="7061730" y="4970479"/>
            <a:ext cx="3952875" cy="514350"/>
          </a:xfrm>
          <a:prstGeom prst="rect">
            <a:avLst/>
          </a:prstGeom>
          <a:noFill/>
        </p:spPr>
        <p:txBody>
          <a:bodyPr wrap="square" lIns="0" tIns="0" rIns="0" bIns="0" anchor="t">
            <a:spAutoFit/>
          </a:bodyPr>
          <a:lstStyle/>
          <a:p>
            <a:pPr algn="l">
              <a:lnSpc>
                <a:spcPts val="2025"/>
              </a:lnSpc>
            </a:pPr>
            <a:r>
              <a:rPr sz="1350" b="0" i="0" u="none" dirty="0">
                <a:solidFill>
                  <a:srgbClr val="F8FAFC"/>
                </a:solidFill>
                <a:latin typeface="Inter"/>
              </a:rPr>
              <a:t>Enforces strict </a:t>
            </a:r>
            <a:r>
              <a:rPr sz="1350" b="0" i="0" u="none" dirty="0" err="1">
                <a:solidFill>
                  <a:srgbClr val="F8FAFC"/>
                </a:solidFill>
                <a:latin typeface="Inter"/>
              </a:rPr>
              <a:t>Pydantic</a:t>
            </a:r>
            <a:r>
              <a:rPr sz="1350" b="0" i="0" u="none" dirty="0">
                <a:solidFill>
                  <a:srgbClr val="F8FAFC"/>
                </a:solidFill>
                <a:latin typeface="Inter"/>
              </a:rPr>
              <a:t> schema validation to guarantee zero web URL leakage.</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581275"/>
            <a:ext cx="2294928" cy="3387923"/>
          </a:xfrm>
          <a:prstGeom prst="roundRect">
            <a:avLst>
              <a:gd name="adj" fmla="val 687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3579018" y="2606873"/>
            <a:ext cx="2178842" cy="3362325"/>
          </a:xfrm>
          <a:prstGeom prst="roundRect">
            <a:avLst>
              <a:gd name="adj" fmla="val 687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6396037" y="2581275"/>
            <a:ext cx="2235994" cy="3387923"/>
          </a:xfrm>
          <a:prstGeom prst="roundRect">
            <a:avLst>
              <a:gd name="adj" fmla="val 687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9135071" y="2613496"/>
            <a:ext cx="2391964" cy="3355702"/>
          </a:xfrm>
          <a:prstGeom prst="roundRect">
            <a:avLst>
              <a:gd name="adj" fmla="val 6874"/>
            </a:avLst>
          </a:prstGeom>
          <a:solidFill>
            <a:srgbClr val="F1F5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Rectangle 5"/>
          <p:cNvSpPr/>
          <p:nvPr/>
        </p:nvSpPr>
        <p:spPr>
          <a:xfrm>
            <a:off x="809624" y="2606873"/>
            <a:ext cx="2216943"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3579018" y="2606873"/>
            <a:ext cx="2216943"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ectangle 7"/>
          <p:cNvSpPr/>
          <p:nvPr/>
        </p:nvSpPr>
        <p:spPr>
          <a:xfrm>
            <a:off x="6405562" y="2613496"/>
            <a:ext cx="2216943"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8"/>
          <p:cNvSpPr/>
          <p:nvPr/>
        </p:nvSpPr>
        <p:spPr>
          <a:xfrm>
            <a:off x="9165433" y="2632546"/>
            <a:ext cx="2216943" cy="38100"/>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image.png"/>
          <p:cNvPicPr>
            <a:picLocks noChangeAspect="1"/>
          </p:cNvPicPr>
          <p:nvPr/>
        </p:nvPicPr>
        <p:blipFill>
          <a:blip r:embed="rId2"/>
          <a:stretch>
            <a:fillRect/>
          </a:stretch>
        </p:blipFill>
        <p:spPr>
          <a:xfrm>
            <a:off x="3207543" y="4173735"/>
            <a:ext cx="142875" cy="228600"/>
          </a:xfrm>
          <a:prstGeom prst="rect">
            <a:avLst/>
          </a:prstGeom>
        </p:spPr>
      </p:pic>
      <p:pic>
        <p:nvPicPr>
          <p:cNvPr id="11" name="Picture 10" descr="image.png"/>
          <p:cNvPicPr>
            <a:picLocks noChangeAspect="1"/>
          </p:cNvPicPr>
          <p:nvPr/>
        </p:nvPicPr>
        <p:blipFill>
          <a:blip r:embed="rId2"/>
          <a:stretch>
            <a:fillRect/>
          </a:stretch>
        </p:blipFill>
        <p:spPr>
          <a:xfrm>
            <a:off x="6024562" y="4173735"/>
            <a:ext cx="142875" cy="228600"/>
          </a:xfrm>
          <a:prstGeom prst="rect">
            <a:avLst/>
          </a:prstGeom>
        </p:spPr>
      </p:pic>
      <p:pic>
        <p:nvPicPr>
          <p:cNvPr id="12" name="Picture 11" descr="image.png"/>
          <p:cNvPicPr>
            <a:picLocks noChangeAspect="1"/>
          </p:cNvPicPr>
          <p:nvPr/>
        </p:nvPicPr>
        <p:blipFill>
          <a:blip r:embed="rId3"/>
          <a:stretch>
            <a:fillRect/>
          </a:stretch>
        </p:blipFill>
        <p:spPr>
          <a:xfrm>
            <a:off x="8865393" y="4173735"/>
            <a:ext cx="142875" cy="228600"/>
          </a:xfrm>
          <a:prstGeom prst="rect">
            <a:avLst/>
          </a:prstGeom>
        </p:spPr>
      </p:pic>
      <p:sp>
        <p:nvSpPr>
          <p:cNvPr id="13" name="TextBox 12"/>
          <p:cNvSpPr txBox="1"/>
          <p:nvPr/>
        </p:nvSpPr>
        <p:spPr>
          <a:xfrm>
            <a:off x="762000" y="609600"/>
            <a:ext cx="11430000" cy="190500"/>
          </a:xfrm>
          <a:prstGeom prst="rect">
            <a:avLst/>
          </a:prstGeom>
          <a:noFill/>
        </p:spPr>
        <p:txBody>
          <a:bodyPr wrap="none" lIns="0" tIns="0" rIns="0" bIns="0" anchor="t">
            <a:spAutoFit/>
          </a:bodyPr>
          <a:lstStyle/>
          <a:p>
            <a:pPr algn="l"/>
            <a:r>
              <a:rPr sz="1200" b="1" i="0" u="none">
                <a:solidFill>
                  <a:srgbClr val="2563EB"/>
                </a:solidFill>
                <a:latin typeface="Inter"/>
              </a:rPr>
              <a:t>ARCHITECTURE DIAGRAM</a:t>
            </a:r>
          </a:p>
        </p:txBody>
      </p:sp>
      <p:sp>
        <p:nvSpPr>
          <p:cNvPr id="14" name="TextBox 13"/>
          <p:cNvSpPr txBox="1"/>
          <p:nvPr/>
        </p:nvSpPr>
        <p:spPr>
          <a:xfrm>
            <a:off x="762000" y="914400"/>
            <a:ext cx="11430000" cy="460920"/>
          </a:xfrm>
          <a:prstGeom prst="rect">
            <a:avLst/>
          </a:prstGeom>
          <a:noFill/>
        </p:spPr>
        <p:txBody>
          <a:bodyPr wrap="none" lIns="0" tIns="0" rIns="0" bIns="0" anchor="t">
            <a:spAutoFit/>
          </a:bodyPr>
          <a:lstStyle/>
          <a:p>
            <a:pPr algn="l">
              <a:lnSpc>
                <a:spcPts val="3629"/>
              </a:lnSpc>
            </a:pPr>
            <a:r>
              <a:rPr sz="3300" b="1" i="0" u="none">
                <a:solidFill>
                  <a:srgbClr val="0F172A"/>
                </a:solidFill>
                <a:latin typeface="Inter"/>
              </a:rPr>
              <a:t>A Four-Stage Deterministic Pipeline</a:t>
            </a:r>
          </a:p>
        </p:txBody>
      </p:sp>
      <p:sp>
        <p:nvSpPr>
          <p:cNvPr id="15" name="TextBox 14"/>
          <p:cNvSpPr txBox="1"/>
          <p:nvPr/>
        </p:nvSpPr>
        <p:spPr>
          <a:xfrm>
            <a:off x="762000" y="1489620"/>
            <a:ext cx="9525000" cy="228600"/>
          </a:xfrm>
          <a:prstGeom prst="rect">
            <a:avLst/>
          </a:prstGeom>
          <a:noFill/>
        </p:spPr>
        <p:txBody>
          <a:bodyPr wrap="none" lIns="0" tIns="0" rIns="0" bIns="0" anchor="t">
            <a:spAutoFit/>
          </a:bodyPr>
          <a:lstStyle/>
          <a:p>
            <a:pPr algn="l"/>
            <a:r>
              <a:rPr sz="1500" b="0" i="0" u="none">
                <a:solidFill>
                  <a:srgbClr val="475569"/>
                </a:solidFill>
                <a:latin typeface="Inter"/>
              </a:rPr>
              <a:t>Processing raw complaints into validated JSON seamlessly.</a:t>
            </a:r>
          </a:p>
        </p:txBody>
      </p:sp>
      <p:sp>
        <p:nvSpPr>
          <p:cNvPr id="16" name="TextBox 15"/>
          <p:cNvSpPr txBox="1"/>
          <p:nvPr/>
        </p:nvSpPr>
        <p:spPr>
          <a:xfrm>
            <a:off x="1066799" y="2902147"/>
            <a:ext cx="2009179" cy="161925"/>
          </a:xfrm>
          <a:prstGeom prst="rect">
            <a:avLst/>
          </a:prstGeom>
          <a:noFill/>
        </p:spPr>
        <p:txBody>
          <a:bodyPr wrap="none" lIns="0" tIns="0" rIns="0" bIns="0" anchor="t">
            <a:spAutoFit/>
          </a:bodyPr>
          <a:lstStyle/>
          <a:p>
            <a:pPr algn="l"/>
            <a:r>
              <a:rPr sz="1050" b="1" i="0" u="none" dirty="0">
                <a:solidFill>
                  <a:srgbClr val="2563EB"/>
                </a:solidFill>
                <a:latin typeface="Inter"/>
              </a:rPr>
              <a:t>PHASE 01</a:t>
            </a:r>
          </a:p>
        </p:txBody>
      </p:sp>
      <p:sp>
        <p:nvSpPr>
          <p:cNvPr id="17" name="TextBox 16"/>
          <p:cNvSpPr txBox="1"/>
          <p:nvPr/>
        </p:nvSpPr>
        <p:spPr>
          <a:xfrm>
            <a:off x="990899" y="3254968"/>
            <a:ext cx="1702593" cy="495300"/>
          </a:xfrm>
          <a:prstGeom prst="rect">
            <a:avLst/>
          </a:prstGeom>
          <a:noFill/>
        </p:spPr>
        <p:txBody>
          <a:bodyPr wrap="square" lIns="0" tIns="0" rIns="0" bIns="0" anchor="t">
            <a:spAutoFit/>
          </a:bodyPr>
          <a:lstStyle/>
          <a:p>
            <a:pPr algn="l"/>
            <a:r>
              <a:rPr sz="1650" b="1" i="0" u="none" dirty="0">
                <a:solidFill>
                  <a:srgbClr val="0F172A"/>
                </a:solidFill>
                <a:latin typeface="Inter"/>
              </a:rPr>
              <a:t>Query Enrichment</a:t>
            </a:r>
          </a:p>
        </p:txBody>
      </p:sp>
      <p:sp>
        <p:nvSpPr>
          <p:cNvPr id="18" name="TextBox 17"/>
          <p:cNvSpPr txBox="1"/>
          <p:nvPr/>
        </p:nvSpPr>
        <p:spPr>
          <a:xfrm>
            <a:off x="1029890" y="3801250"/>
            <a:ext cx="1702593" cy="13716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Inter"/>
              </a:rPr>
              <a:t>Normalize colloquial text into a canonical technical query. Generate semantic cache keys and 8-10 diverse paraphrases.</a:t>
            </a:r>
          </a:p>
        </p:txBody>
      </p:sp>
      <p:sp>
        <p:nvSpPr>
          <p:cNvPr id="19" name="TextBox 18"/>
          <p:cNvSpPr txBox="1"/>
          <p:nvPr/>
        </p:nvSpPr>
        <p:spPr>
          <a:xfrm>
            <a:off x="3883818" y="2949773"/>
            <a:ext cx="2009179" cy="161925"/>
          </a:xfrm>
          <a:prstGeom prst="rect">
            <a:avLst/>
          </a:prstGeom>
          <a:noFill/>
        </p:spPr>
        <p:txBody>
          <a:bodyPr wrap="none" lIns="0" tIns="0" rIns="0" bIns="0" anchor="t">
            <a:spAutoFit/>
          </a:bodyPr>
          <a:lstStyle/>
          <a:p>
            <a:pPr algn="l"/>
            <a:r>
              <a:rPr sz="1050" b="1" i="0" u="none" dirty="0">
                <a:solidFill>
                  <a:srgbClr val="2563EB"/>
                </a:solidFill>
                <a:latin typeface="Inter"/>
              </a:rPr>
              <a:t>PHASE 02</a:t>
            </a:r>
          </a:p>
        </p:txBody>
      </p:sp>
      <p:sp>
        <p:nvSpPr>
          <p:cNvPr id="20" name="TextBox 19"/>
          <p:cNvSpPr txBox="1"/>
          <p:nvPr/>
        </p:nvSpPr>
        <p:spPr>
          <a:xfrm>
            <a:off x="3883818" y="3225998"/>
            <a:ext cx="1702593" cy="495300"/>
          </a:xfrm>
          <a:prstGeom prst="rect">
            <a:avLst/>
          </a:prstGeom>
          <a:noFill/>
        </p:spPr>
        <p:txBody>
          <a:bodyPr wrap="square" lIns="0" tIns="0" rIns="0" bIns="0" anchor="t">
            <a:spAutoFit/>
          </a:bodyPr>
          <a:lstStyle/>
          <a:p>
            <a:pPr algn="l"/>
            <a:r>
              <a:rPr sz="1650" b="1" i="0" u="none">
                <a:solidFill>
                  <a:srgbClr val="0F172A"/>
                </a:solidFill>
                <a:latin typeface="Inter"/>
              </a:rPr>
              <a:t>Structure Extraction</a:t>
            </a:r>
          </a:p>
        </p:txBody>
      </p:sp>
      <p:sp>
        <p:nvSpPr>
          <p:cNvPr id="21" name="TextBox 20"/>
          <p:cNvSpPr txBox="1"/>
          <p:nvPr/>
        </p:nvSpPr>
        <p:spPr>
          <a:xfrm>
            <a:off x="3883818" y="3835598"/>
            <a:ext cx="1702593" cy="1828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LLM parses unstructured text into a Goal object containing categorized Actions and discrete UI steps, strictly adhering to schemas.</a:t>
            </a:r>
          </a:p>
        </p:txBody>
      </p:sp>
      <p:sp>
        <p:nvSpPr>
          <p:cNvPr id="22" name="TextBox 21"/>
          <p:cNvSpPr txBox="1"/>
          <p:nvPr/>
        </p:nvSpPr>
        <p:spPr>
          <a:xfrm>
            <a:off x="6700837" y="2983110"/>
            <a:ext cx="2009179" cy="161925"/>
          </a:xfrm>
          <a:prstGeom prst="rect">
            <a:avLst/>
          </a:prstGeom>
          <a:noFill/>
        </p:spPr>
        <p:txBody>
          <a:bodyPr wrap="none" lIns="0" tIns="0" rIns="0" bIns="0" anchor="t">
            <a:spAutoFit/>
          </a:bodyPr>
          <a:lstStyle/>
          <a:p>
            <a:pPr algn="l"/>
            <a:r>
              <a:rPr sz="1050" b="1" i="0" u="none" dirty="0">
                <a:solidFill>
                  <a:srgbClr val="2563EB"/>
                </a:solidFill>
                <a:latin typeface="Inter"/>
              </a:rPr>
              <a:t>PHASE 03</a:t>
            </a:r>
          </a:p>
        </p:txBody>
      </p:sp>
      <p:sp>
        <p:nvSpPr>
          <p:cNvPr id="23" name="TextBox 22"/>
          <p:cNvSpPr txBox="1"/>
          <p:nvPr/>
        </p:nvSpPr>
        <p:spPr>
          <a:xfrm>
            <a:off x="6662736" y="3283148"/>
            <a:ext cx="1702593" cy="495300"/>
          </a:xfrm>
          <a:prstGeom prst="rect">
            <a:avLst/>
          </a:prstGeom>
          <a:noFill/>
        </p:spPr>
        <p:txBody>
          <a:bodyPr wrap="square" lIns="0" tIns="0" rIns="0" bIns="0" anchor="t">
            <a:spAutoFit/>
          </a:bodyPr>
          <a:lstStyle/>
          <a:p>
            <a:pPr algn="l"/>
            <a:r>
              <a:rPr sz="1650" b="1" i="0" u="none" dirty="0">
                <a:solidFill>
                  <a:srgbClr val="0F172A"/>
                </a:solidFill>
                <a:latin typeface="Inter"/>
              </a:rPr>
              <a:t>Deeplink Mapping</a:t>
            </a:r>
          </a:p>
        </p:txBody>
      </p:sp>
      <p:sp>
        <p:nvSpPr>
          <p:cNvPr id="24" name="TextBox 23"/>
          <p:cNvSpPr txBox="1"/>
          <p:nvPr/>
        </p:nvSpPr>
        <p:spPr>
          <a:xfrm>
            <a:off x="6700837" y="3884674"/>
            <a:ext cx="1702593" cy="16002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Dual retrieval (BM25 + Dense embeddings) matches extracted steps to 575+ masked catalog URIs. Sequences non-invasive steps first.</a:t>
            </a:r>
          </a:p>
        </p:txBody>
      </p:sp>
      <p:sp>
        <p:nvSpPr>
          <p:cNvPr id="25" name="TextBox 24"/>
          <p:cNvSpPr txBox="1"/>
          <p:nvPr/>
        </p:nvSpPr>
        <p:spPr>
          <a:xfrm>
            <a:off x="9475458" y="3008179"/>
            <a:ext cx="2009179" cy="161925"/>
          </a:xfrm>
          <a:prstGeom prst="rect">
            <a:avLst/>
          </a:prstGeom>
          <a:noFill/>
        </p:spPr>
        <p:txBody>
          <a:bodyPr wrap="none" lIns="0" tIns="0" rIns="0" bIns="0" anchor="t">
            <a:spAutoFit/>
          </a:bodyPr>
          <a:lstStyle/>
          <a:p>
            <a:pPr algn="l"/>
            <a:r>
              <a:rPr sz="1050" b="1" i="0" u="none" dirty="0">
                <a:solidFill>
                  <a:srgbClr val="2563EB"/>
                </a:solidFill>
                <a:latin typeface="Inter"/>
              </a:rPr>
              <a:t>PHASE 04</a:t>
            </a:r>
          </a:p>
        </p:txBody>
      </p:sp>
      <p:sp>
        <p:nvSpPr>
          <p:cNvPr id="26" name="TextBox 25"/>
          <p:cNvSpPr txBox="1"/>
          <p:nvPr/>
        </p:nvSpPr>
        <p:spPr>
          <a:xfrm>
            <a:off x="9459517" y="3309841"/>
            <a:ext cx="1702593" cy="495300"/>
          </a:xfrm>
          <a:prstGeom prst="rect">
            <a:avLst/>
          </a:prstGeom>
          <a:noFill/>
        </p:spPr>
        <p:txBody>
          <a:bodyPr wrap="square" lIns="0" tIns="0" rIns="0" bIns="0" anchor="t">
            <a:spAutoFit/>
          </a:bodyPr>
          <a:lstStyle/>
          <a:p>
            <a:pPr algn="l"/>
            <a:r>
              <a:rPr sz="1650" b="1" i="0" u="none">
                <a:solidFill>
                  <a:srgbClr val="0F172A"/>
                </a:solidFill>
                <a:latin typeface="Inter"/>
              </a:rPr>
              <a:t>Fast-Path Cache</a:t>
            </a:r>
          </a:p>
        </p:txBody>
      </p:sp>
      <p:sp>
        <p:nvSpPr>
          <p:cNvPr id="27" name="TextBox 26"/>
          <p:cNvSpPr txBox="1"/>
          <p:nvPr/>
        </p:nvSpPr>
        <p:spPr>
          <a:xfrm>
            <a:off x="9475458" y="3900553"/>
            <a:ext cx="1702593" cy="13716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Inter"/>
              </a:rPr>
              <a:t>Serve pre-validated schema-compliant answers via REST API in under 300ms for cache hits, logging execution metadata.</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946820"/>
            <a:ext cx="3352800" cy="4301579"/>
          </a:xfrm>
          <a:prstGeom prst="roundRect">
            <a:avLst>
              <a:gd name="adj" fmla="val 5681"/>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419600" y="1946820"/>
            <a:ext cx="3352800" cy="4301579"/>
          </a:xfrm>
          <a:prstGeom prst="roundRect">
            <a:avLst>
              <a:gd name="adj" fmla="val 5681"/>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77200" y="1946820"/>
            <a:ext cx="3352800" cy="4301579"/>
          </a:xfrm>
          <a:prstGeom prst="roundRect">
            <a:avLst>
              <a:gd name="adj" fmla="val 5681"/>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2057400" y="2337345"/>
            <a:ext cx="762000" cy="762000"/>
          </a:xfrm>
          <a:prstGeom prst="rect">
            <a:avLst/>
          </a:prstGeom>
        </p:spPr>
      </p:pic>
      <p:pic>
        <p:nvPicPr>
          <p:cNvPr id="6" name="Picture 5" descr="image.png"/>
          <p:cNvPicPr>
            <a:picLocks noChangeAspect="1"/>
          </p:cNvPicPr>
          <p:nvPr/>
        </p:nvPicPr>
        <p:blipFill>
          <a:blip r:embed="rId3"/>
          <a:stretch>
            <a:fillRect/>
          </a:stretch>
        </p:blipFill>
        <p:spPr>
          <a:xfrm>
            <a:off x="5715000" y="2337345"/>
            <a:ext cx="762000" cy="762000"/>
          </a:xfrm>
          <a:prstGeom prst="rect">
            <a:avLst/>
          </a:prstGeom>
        </p:spPr>
      </p:pic>
      <p:pic>
        <p:nvPicPr>
          <p:cNvPr id="7" name="Picture 6" descr="image.png"/>
          <p:cNvPicPr>
            <a:picLocks noChangeAspect="1"/>
          </p:cNvPicPr>
          <p:nvPr/>
        </p:nvPicPr>
        <p:blipFill>
          <a:blip r:embed="rId4"/>
          <a:stretch>
            <a:fillRect/>
          </a:stretch>
        </p:blipFill>
        <p:spPr>
          <a:xfrm>
            <a:off x="9372600" y="2337345"/>
            <a:ext cx="762000" cy="762000"/>
          </a:xfrm>
          <a:prstGeom prst="rect">
            <a:avLst/>
          </a:prstGeom>
        </p:spPr>
      </p:pic>
      <p:pic>
        <p:nvPicPr>
          <p:cNvPr id="8" name="Picture 7" descr="image.png"/>
          <p:cNvPicPr>
            <a:picLocks noChangeAspect="1"/>
          </p:cNvPicPr>
          <p:nvPr/>
        </p:nvPicPr>
        <p:blipFill>
          <a:blip r:embed="rId5"/>
          <a:stretch>
            <a:fillRect/>
          </a:stretch>
        </p:blipFill>
        <p:spPr>
          <a:xfrm>
            <a:off x="2286000" y="2565945"/>
            <a:ext cx="304800" cy="304800"/>
          </a:xfrm>
          <a:prstGeom prst="rect">
            <a:avLst/>
          </a:prstGeom>
        </p:spPr>
      </p:pic>
      <p:pic>
        <p:nvPicPr>
          <p:cNvPr id="9" name="Picture 8" descr="image.png"/>
          <p:cNvPicPr>
            <a:picLocks noChangeAspect="1"/>
          </p:cNvPicPr>
          <p:nvPr/>
        </p:nvPicPr>
        <p:blipFill>
          <a:blip r:embed="rId6"/>
          <a:stretch>
            <a:fillRect/>
          </a:stretch>
        </p:blipFill>
        <p:spPr>
          <a:xfrm>
            <a:off x="5905500" y="2565945"/>
            <a:ext cx="381000" cy="304800"/>
          </a:xfrm>
          <a:prstGeom prst="rect">
            <a:avLst/>
          </a:prstGeom>
        </p:spPr>
      </p:pic>
      <p:pic>
        <p:nvPicPr>
          <p:cNvPr id="10" name="Picture 9" descr="image.png"/>
          <p:cNvPicPr>
            <a:picLocks noChangeAspect="1"/>
          </p:cNvPicPr>
          <p:nvPr/>
        </p:nvPicPr>
        <p:blipFill>
          <a:blip r:embed="rId7"/>
          <a:stretch>
            <a:fillRect/>
          </a:stretch>
        </p:blipFill>
        <p:spPr>
          <a:xfrm>
            <a:off x="9563100" y="2565945"/>
            <a:ext cx="381000" cy="304800"/>
          </a:xfrm>
          <a:prstGeom prst="rect">
            <a:avLst/>
          </a:prstGeom>
        </p:spPr>
      </p:pic>
      <p:sp>
        <p:nvSpPr>
          <p:cNvPr id="11" name="TextBox 10"/>
          <p:cNvSpPr txBox="1"/>
          <p:nvPr/>
        </p:nvSpPr>
        <p:spPr>
          <a:xfrm>
            <a:off x="-285750" y="609600"/>
            <a:ext cx="12763500" cy="460920"/>
          </a:xfrm>
          <a:prstGeom prst="rect">
            <a:avLst/>
          </a:prstGeom>
          <a:noFill/>
        </p:spPr>
        <p:txBody>
          <a:bodyPr wrap="none" lIns="0" tIns="0" rIns="0" bIns="0" anchor="t">
            <a:spAutoFit/>
          </a:bodyPr>
          <a:lstStyle/>
          <a:p>
            <a:pPr algn="ctr">
              <a:lnSpc>
                <a:spcPts val="3629"/>
              </a:lnSpc>
            </a:pPr>
            <a:r>
              <a:rPr sz="3300" b="1" i="0" u="none">
                <a:solidFill>
                  <a:srgbClr val="0F172A"/>
                </a:solidFill>
                <a:latin typeface="Inter"/>
              </a:rPr>
              <a:t>Demo &amp; Product Walkthrough</a:t>
            </a:r>
          </a:p>
        </p:txBody>
      </p:sp>
      <p:sp>
        <p:nvSpPr>
          <p:cNvPr id="12" name="TextBox 11"/>
          <p:cNvSpPr txBox="1"/>
          <p:nvPr/>
        </p:nvSpPr>
        <p:spPr>
          <a:xfrm>
            <a:off x="1333500" y="1184820"/>
            <a:ext cx="9525000" cy="228600"/>
          </a:xfrm>
          <a:prstGeom prst="rect">
            <a:avLst/>
          </a:prstGeom>
          <a:noFill/>
        </p:spPr>
        <p:txBody>
          <a:bodyPr wrap="none" lIns="0" tIns="0" rIns="0" bIns="0" anchor="t">
            <a:spAutoFit/>
          </a:bodyPr>
          <a:lstStyle/>
          <a:p>
            <a:pPr algn="ctr"/>
            <a:r>
              <a:rPr sz="1500" b="0" i="0" u="none">
                <a:solidFill>
                  <a:srgbClr val="475569"/>
                </a:solidFill>
                <a:latin typeface="Inter"/>
              </a:rPr>
              <a:t>The lifecycle of a single API request.</a:t>
            </a:r>
          </a:p>
        </p:txBody>
      </p:sp>
      <p:sp>
        <p:nvSpPr>
          <p:cNvPr id="13" name="TextBox 12"/>
          <p:cNvSpPr txBox="1"/>
          <p:nvPr/>
        </p:nvSpPr>
        <p:spPr>
          <a:xfrm>
            <a:off x="750689" y="3327945"/>
            <a:ext cx="3375421" cy="276225"/>
          </a:xfrm>
          <a:prstGeom prst="rect">
            <a:avLst/>
          </a:prstGeom>
          <a:noFill/>
        </p:spPr>
        <p:txBody>
          <a:bodyPr wrap="none" lIns="0" tIns="0" rIns="0" bIns="0" anchor="ctr">
            <a:spAutoFit/>
          </a:bodyPr>
          <a:lstStyle/>
          <a:p>
            <a:pPr algn="ctr"/>
            <a:r>
              <a:rPr sz="1800" b="1" i="0" u="none">
                <a:solidFill>
                  <a:srgbClr val="0F172A"/>
                </a:solidFill>
                <a:latin typeface="Inter"/>
              </a:rPr>
              <a:t>1. User Input</a:t>
            </a:r>
          </a:p>
        </p:txBody>
      </p:sp>
      <p:sp>
        <p:nvSpPr>
          <p:cNvPr id="14" name="TextBox 13"/>
          <p:cNvSpPr txBox="1"/>
          <p:nvPr/>
        </p:nvSpPr>
        <p:spPr>
          <a:xfrm>
            <a:off x="831056" y="3756570"/>
            <a:ext cx="3214687" cy="1800225"/>
          </a:xfrm>
          <a:prstGeom prst="rect">
            <a:avLst/>
          </a:prstGeom>
          <a:noFill/>
        </p:spPr>
        <p:txBody>
          <a:bodyPr wrap="square" lIns="0" tIns="0" rIns="0" bIns="0" anchor="t">
            <a:spAutoFit/>
          </a:bodyPr>
          <a:lstStyle/>
          <a:p>
            <a:pPr algn="ctr">
              <a:lnSpc>
                <a:spcPts val="2025"/>
              </a:lnSpc>
            </a:pPr>
            <a:r>
              <a:rPr sz="1350" b="0" i="0" u="none">
                <a:solidFill>
                  <a:srgbClr val="475569"/>
                </a:solidFill>
                <a:latin typeface="Inter"/>
              </a:rPr>
              <a:t>"Swipe navigation broken after installing app."</a:t>
            </a:r>
            <a:r>
              <a:t>
</a:t>
            </a:r>
            <a:r>
              <a:rPr sz="1350" b="0" i="0" u="none">
                <a:solidFill>
                  <a:srgbClr val="475569"/>
                </a:solidFill>
                <a:latin typeface="Inter"/>
              </a:rPr>
              <a:t> The endpoint POST /v1/troubleshoot receives this unstructured string directly from the user.</a:t>
            </a:r>
          </a:p>
        </p:txBody>
      </p:sp>
      <p:sp>
        <p:nvSpPr>
          <p:cNvPr id="15" name="TextBox 14"/>
          <p:cNvSpPr txBox="1"/>
          <p:nvPr/>
        </p:nvSpPr>
        <p:spPr>
          <a:xfrm>
            <a:off x="4408289" y="3327945"/>
            <a:ext cx="3375421" cy="276225"/>
          </a:xfrm>
          <a:prstGeom prst="rect">
            <a:avLst/>
          </a:prstGeom>
          <a:noFill/>
        </p:spPr>
        <p:txBody>
          <a:bodyPr wrap="none" lIns="0" tIns="0" rIns="0" bIns="0" anchor="ctr">
            <a:spAutoFit/>
          </a:bodyPr>
          <a:lstStyle/>
          <a:p>
            <a:pPr algn="ctr"/>
            <a:r>
              <a:rPr sz="1800" b="1" i="0" u="none">
                <a:solidFill>
                  <a:srgbClr val="0F172A"/>
                </a:solidFill>
                <a:latin typeface="Inter"/>
              </a:rPr>
              <a:t>2. Execution Engine</a:t>
            </a:r>
          </a:p>
        </p:txBody>
      </p:sp>
      <p:sp>
        <p:nvSpPr>
          <p:cNvPr id="16" name="TextBox 15"/>
          <p:cNvSpPr txBox="1"/>
          <p:nvPr/>
        </p:nvSpPr>
        <p:spPr>
          <a:xfrm>
            <a:off x="4488656" y="3756570"/>
            <a:ext cx="3214687" cy="1543050"/>
          </a:xfrm>
          <a:prstGeom prst="rect">
            <a:avLst/>
          </a:prstGeom>
          <a:noFill/>
        </p:spPr>
        <p:txBody>
          <a:bodyPr wrap="square" lIns="0" tIns="0" rIns="0" bIns="0" anchor="t">
            <a:spAutoFit/>
          </a:bodyPr>
          <a:lstStyle/>
          <a:p>
            <a:pPr algn="ctr">
              <a:lnSpc>
                <a:spcPts val="2025"/>
              </a:lnSpc>
            </a:pPr>
            <a:r>
              <a:rPr sz="1350" b="0" i="0" u="none">
                <a:solidFill>
                  <a:srgbClr val="475569"/>
                </a:solidFill>
                <a:latin typeface="Inter"/>
              </a:rPr>
              <a:t>The pipeline isolates intents and maps UI steps to catalog metadata. Non-invasive settings are intelligently ordered first; critical system resets are ordered last.</a:t>
            </a:r>
          </a:p>
        </p:txBody>
      </p:sp>
      <p:sp>
        <p:nvSpPr>
          <p:cNvPr id="17" name="TextBox 16"/>
          <p:cNvSpPr txBox="1"/>
          <p:nvPr/>
        </p:nvSpPr>
        <p:spPr>
          <a:xfrm>
            <a:off x="8065889" y="3327945"/>
            <a:ext cx="3375421" cy="276225"/>
          </a:xfrm>
          <a:prstGeom prst="rect">
            <a:avLst/>
          </a:prstGeom>
          <a:noFill/>
        </p:spPr>
        <p:txBody>
          <a:bodyPr wrap="none" lIns="0" tIns="0" rIns="0" bIns="0" anchor="ctr">
            <a:spAutoFit/>
          </a:bodyPr>
          <a:lstStyle/>
          <a:p>
            <a:pPr algn="ctr"/>
            <a:r>
              <a:rPr sz="1800" b="1" i="0" u="none">
                <a:solidFill>
                  <a:srgbClr val="0F172A"/>
                </a:solidFill>
                <a:latin typeface="Inter"/>
              </a:rPr>
              <a:t>3. Validated JSON</a:t>
            </a:r>
          </a:p>
        </p:txBody>
      </p:sp>
      <p:sp>
        <p:nvSpPr>
          <p:cNvPr id="18" name="TextBox 17"/>
          <p:cNvSpPr txBox="1"/>
          <p:nvPr/>
        </p:nvSpPr>
        <p:spPr>
          <a:xfrm>
            <a:off x="8146256" y="3756570"/>
            <a:ext cx="3214687" cy="1285875"/>
          </a:xfrm>
          <a:prstGeom prst="rect">
            <a:avLst/>
          </a:prstGeom>
          <a:noFill/>
        </p:spPr>
        <p:txBody>
          <a:bodyPr wrap="square" lIns="0" tIns="0" rIns="0" bIns="0" anchor="t">
            <a:spAutoFit/>
          </a:bodyPr>
          <a:lstStyle/>
          <a:p>
            <a:pPr algn="ctr">
              <a:lnSpc>
                <a:spcPts val="2025"/>
              </a:lnSpc>
            </a:pPr>
            <a:r>
              <a:rPr sz="1350" b="0" i="0" u="none">
                <a:solidFill>
                  <a:srgbClr val="475569"/>
                </a:solidFill>
                <a:latin typeface="Inter"/>
              </a:rPr>
              <a:t>Returns a clean Pydantic schema containing exact bixby:// URIs alongside operational metadata (latency, hit flags, and inference cost).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1870620"/>
            <a:ext cx="5181600" cy="2150715"/>
          </a:xfrm>
          <a:prstGeom prst="roundRect">
            <a:avLst>
              <a:gd name="adj" fmla="val 885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6248400" y="1870620"/>
            <a:ext cx="5181600" cy="2150715"/>
          </a:xfrm>
          <a:prstGeom prst="roundRect">
            <a:avLst>
              <a:gd name="adj" fmla="val 885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762000" y="4326135"/>
            <a:ext cx="5181600" cy="1922264"/>
          </a:xfrm>
          <a:prstGeom prst="roundRect">
            <a:avLst>
              <a:gd name="adj" fmla="val 991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Rounded Rectangle 4"/>
          <p:cNvSpPr/>
          <p:nvPr/>
        </p:nvSpPr>
        <p:spPr>
          <a:xfrm>
            <a:off x="6248400" y="4326135"/>
            <a:ext cx="5181600" cy="1922264"/>
          </a:xfrm>
          <a:prstGeom prst="roundRect">
            <a:avLst>
              <a:gd name="adj" fmla="val 991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6" name="Picture 5" descr="image.png"/>
          <p:cNvPicPr>
            <a:picLocks noChangeAspect="1"/>
          </p:cNvPicPr>
          <p:nvPr/>
        </p:nvPicPr>
        <p:blipFill>
          <a:blip r:embed="rId2"/>
          <a:stretch>
            <a:fillRect/>
          </a:stretch>
        </p:blipFill>
        <p:spPr>
          <a:xfrm>
            <a:off x="1076325" y="2184945"/>
            <a:ext cx="609600" cy="609600"/>
          </a:xfrm>
          <a:prstGeom prst="rect">
            <a:avLst/>
          </a:prstGeom>
        </p:spPr>
      </p:pic>
      <p:pic>
        <p:nvPicPr>
          <p:cNvPr id="7" name="Picture 6" descr="image.png"/>
          <p:cNvPicPr>
            <a:picLocks noChangeAspect="1"/>
          </p:cNvPicPr>
          <p:nvPr/>
        </p:nvPicPr>
        <p:blipFill>
          <a:blip r:embed="rId3"/>
          <a:stretch>
            <a:fillRect/>
          </a:stretch>
        </p:blipFill>
        <p:spPr>
          <a:xfrm>
            <a:off x="6562725" y="2184945"/>
            <a:ext cx="609600" cy="609600"/>
          </a:xfrm>
          <a:prstGeom prst="rect">
            <a:avLst/>
          </a:prstGeom>
        </p:spPr>
      </p:pic>
      <p:pic>
        <p:nvPicPr>
          <p:cNvPr id="8" name="Picture 7" descr="image.png"/>
          <p:cNvPicPr>
            <a:picLocks noChangeAspect="1"/>
          </p:cNvPicPr>
          <p:nvPr/>
        </p:nvPicPr>
        <p:blipFill>
          <a:blip r:embed="rId2"/>
          <a:stretch>
            <a:fillRect/>
          </a:stretch>
        </p:blipFill>
        <p:spPr>
          <a:xfrm>
            <a:off x="1076325" y="4640460"/>
            <a:ext cx="609600" cy="609600"/>
          </a:xfrm>
          <a:prstGeom prst="rect">
            <a:avLst/>
          </a:prstGeom>
        </p:spPr>
      </p:pic>
      <p:pic>
        <p:nvPicPr>
          <p:cNvPr id="9" name="Picture 8" descr="image.png"/>
          <p:cNvPicPr>
            <a:picLocks noChangeAspect="1"/>
          </p:cNvPicPr>
          <p:nvPr/>
        </p:nvPicPr>
        <p:blipFill>
          <a:blip r:embed="rId3"/>
          <a:stretch>
            <a:fillRect/>
          </a:stretch>
        </p:blipFill>
        <p:spPr>
          <a:xfrm>
            <a:off x="6562725" y="4640460"/>
            <a:ext cx="609600" cy="609600"/>
          </a:xfrm>
          <a:prstGeom prst="rect">
            <a:avLst/>
          </a:prstGeom>
        </p:spPr>
      </p:pic>
      <p:pic>
        <p:nvPicPr>
          <p:cNvPr id="10" name="Picture 9" descr="image.png"/>
          <p:cNvPicPr>
            <a:picLocks noChangeAspect="1"/>
          </p:cNvPicPr>
          <p:nvPr/>
        </p:nvPicPr>
        <p:blipFill>
          <a:blip r:embed="rId4"/>
          <a:stretch>
            <a:fillRect/>
          </a:stretch>
        </p:blipFill>
        <p:spPr>
          <a:xfrm>
            <a:off x="1247775" y="2356395"/>
            <a:ext cx="266700" cy="266700"/>
          </a:xfrm>
          <a:prstGeom prst="rect">
            <a:avLst/>
          </a:prstGeom>
        </p:spPr>
      </p:pic>
      <p:pic>
        <p:nvPicPr>
          <p:cNvPr id="11" name="Picture 10" descr="image.png"/>
          <p:cNvPicPr>
            <a:picLocks noChangeAspect="1"/>
          </p:cNvPicPr>
          <p:nvPr/>
        </p:nvPicPr>
        <p:blipFill>
          <a:blip r:embed="rId5"/>
          <a:stretch>
            <a:fillRect/>
          </a:stretch>
        </p:blipFill>
        <p:spPr>
          <a:xfrm>
            <a:off x="6748462" y="2356395"/>
            <a:ext cx="238125" cy="266700"/>
          </a:xfrm>
          <a:prstGeom prst="rect">
            <a:avLst/>
          </a:prstGeom>
        </p:spPr>
      </p:pic>
      <p:pic>
        <p:nvPicPr>
          <p:cNvPr id="12" name="Picture 11" descr="image.png"/>
          <p:cNvPicPr>
            <a:picLocks noChangeAspect="1"/>
          </p:cNvPicPr>
          <p:nvPr/>
        </p:nvPicPr>
        <p:blipFill>
          <a:blip r:embed="rId6"/>
          <a:stretch>
            <a:fillRect/>
          </a:stretch>
        </p:blipFill>
        <p:spPr>
          <a:xfrm>
            <a:off x="1262062" y="4811910"/>
            <a:ext cx="238125" cy="266700"/>
          </a:xfrm>
          <a:prstGeom prst="rect">
            <a:avLst/>
          </a:prstGeom>
        </p:spPr>
      </p:pic>
      <p:pic>
        <p:nvPicPr>
          <p:cNvPr id="13" name="Picture 12" descr="image.png"/>
          <p:cNvPicPr>
            <a:picLocks noChangeAspect="1"/>
          </p:cNvPicPr>
          <p:nvPr/>
        </p:nvPicPr>
        <p:blipFill>
          <a:blip r:embed="rId7"/>
          <a:stretch>
            <a:fillRect/>
          </a:stretch>
        </p:blipFill>
        <p:spPr>
          <a:xfrm>
            <a:off x="6734175" y="4811910"/>
            <a:ext cx="266700" cy="266700"/>
          </a:xfrm>
          <a:prstGeom prst="rect">
            <a:avLst/>
          </a:prstGeom>
        </p:spPr>
      </p:pic>
      <p:sp>
        <p:nvSpPr>
          <p:cNvPr id="14" name="TextBox 13"/>
          <p:cNvSpPr txBox="1"/>
          <p:nvPr/>
        </p:nvSpPr>
        <p:spPr>
          <a:xfrm>
            <a:off x="762000" y="609600"/>
            <a:ext cx="11430000" cy="460920"/>
          </a:xfrm>
          <a:prstGeom prst="rect">
            <a:avLst/>
          </a:prstGeom>
          <a:noFill/>
        </p:spPr>
        <p:txBody>
          <a:bodyPr wrap="none" lIns="0" tIns="0" rIns="0" bIns="0" anchor="t">
            <a:spAutoFit/>
          </a:bodyPr>
          <a:lstStyle/>
          <a:p>
            <a:pPr algn="l">
              <a:lnSpc>
                <a:spcPts val="3629"/>
              </a:lnSpc>
            </a:pPr>
            <a:r>
              <a:rPr sz="3300" b="1" i="0" u="none">
                <a:solidFill>
                  <a:srgbClr val="0F172A"/>
                </a:solidFill>
                <a:latin typeface="Inter"/>
              </a:rPr>
              <a:t>Tools &amp; Tech Stack</a:t>
            </a:r>
          </a:p>
        </p:txBody>
      </p:sp>
      <p:sp>
        <p:nvSpPr>
          <p:cNvPr id="15" name="TextBox 14"/>
          <p:cNvSpPr txBox="1"/>
          <p:nvPr/>
        </p:nvSpPr>
        <p:spPr>
          <a:xfrm>
            <a:off x="762000" y="1184820"/>
            <a:ext cx="9525000" cy="228600"/>
          </a:xfrm>
          <a:prstGeom prst="rect">
            <a:avLst/>
          </a:prstGeom>
          <a:noFill/>
        </p:spPr>
        <p:txBody>
          <a:bodyPr wrap="none" lIns="0" tIns="0" rIns="0" bIns="0" anchor="t">
            <a:spAutoFit/>
          </a:bodyPr>
          <a:lstStyle/>
          <a:p>
            <a:pPr algn="l"/>
            <a:r>
              <a:rPr sz="1500" b="0" i="0" u="none">
                <a:solidFill>
                  <a:srgbClr val="475569"/>
                </a:solidFill>
                <a:latin typeface="Inter"/>
              </a:rPr>
              <a:t>Built for precision, scale, and zero-leak reliability.</a:t>
            </a:r>
          </a:p>
        </p:txBody>
      </p:sp>
      <p:sp>
        <p:nvSpPr>
          <p:cNvPr id="16" name="TextBox 15"/>
          <p:cNvSpPr txBox="1"/>
          <p:nvPr/>
        </p:nvSpPr>
        <p:spPr>
          <a:xfrm>
            <a:off x="1914525" y="2184945"/>
            <a:ext cx="4875609" cy="276225"/>
          </a:xfrm>
          <a:prstGeom prst="rect">
            <a:avLst/>
          </a:prstGeom>
          <a:noFill/>
        </p:spPr>
        <p:txBody>
          <a:bodyPr wrap="none" lIns="0" tIns="0" rIns="0" bIns="0" anchor="ctr">
            <a:spAutoFit/>
          </a:bodyPr>
          <a:lstStyle/>
          <a:p>
            <a:pPr algn="l"/>
            <a:r>
              <a:rPr sz="1800" b="1" i="0" u="none">
                <a:solidFill>
                  <a:srgbClr val="0F172A"/>
                </a:solidFill>
                <a:latin typeface="Inter"/>
              </a:rPr>
              <a:t>Extraction LLM</a:t>
            </a:r>
          </a:p>
        </p:txBody>
      </p:sp>
      <p:sp>
        <p:nvSpPr>
          <p:cNvPr id="17" name="TextBox 16"/>
          <p:cNvSpPr txBox="1"/>
          <p:nvPr/>
        </p:nvSpPr>
        <p:spPr>
          <a:xfrm>
            <a:off x="1914525" y="2537370"/>
            <a:ext cx="3810000" cy="9144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Handles zero-leak intent parsing. Parses unstructured customer-care reference text into categorized, discrete UI steps without hallucinating workflows.</a:t>
            </a:r>
          </a:p>
        </p:txBody>
      </p:sp>
      <p:sp>
        <p:nvSpPr>
          <p:cNvPr id="18" name="TextBox 17"/>
          <p:cNvSpPr txBox="1"/>
          <p:nvPr/>
        </p:nvSpPr>
        <p:spPr>
          <a:xfrm>
            <a:off x="7400925" y="2184945"/>
            <a:ext cx="4791075" cy="276225"/>
          </a:xfrm>
          <a:prstGeom prst="rect">
            <a:avLst/>
          </a:prstGeom>
          <a:noFill/>
        </p:spPr>
        <p:txBody>
          <a:bodyPr wrap="none" lIns="0" tIns="0" rIns="0" bIns="0" anchor="ctr">
            <a:spAutoFit/>
          </a:bodyPr>
          <a:lstStyle/>
          <a:p>
            <a:pPr algn="l"/>
            <a:r>
              <a:rPr sz="1800" b="1" i="0" u="none">
                <a:solidFill>
                  <a:srgbClr val="0F172A"/>
                </a:solidFill>
                <a:latin typeface="Inter"/>
              </a:rPr>
              <a:t>Hybrid Vector DB</a:t>
            </a:r>
          </a:p>
        </p:txBody>
      </p:sp>
      <p:sp>
        <p:nvSpPr>
          <p:cNvPr id="19" name="TextBox 18"/>
          <p:cNvSpPr txBox="1"/>
          <p:nvPr/>
        </p:nvSpPr>
        <p:spPr>
          <a:xfrm>
            <a:off x="7400925" y="2537370"/>
            <a:ext cx="38100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Combines BM25 keyword search with dense embeddings to accurately retrieve target screens from the 575+ masked URI catalog metadata.</a:t>
            </a:r>
          </a:p>
        </p:txBody>
      </p:sp>
      <p:sp>
        <p:nvSpPr>
          <p:cNvPr id="20" name="TextBox 19"/>
          <p:cNvSpPr txBox="1"/>
          <p:nvPr/>
        </p:nvSpPr>
        <p:spPr>
          <a:xfrm>
            <a:off x="1914525" y="4640460"/>
            <a:ext cx="4875609" cy="276225"/>
          </a:xfrm>
          <a:prstGeom prst="rect">
            <a:avLst/>
          </a:prstGeom>
          <a:noFill/>
        </p:spPr>
        <p:txBody>
          <a:bodyPr wrap="none" lIns="0" tIns="0" rIns="0" bIns="0" anchor="ctr">
            <a:spAutoFit/>
          </a:bodyPr>
          <a:lstStyle/>
          <a:p>
            <a:pPr algn="l"/>
            <a:r>
              <a:rPr sz="1800" b="1" i="0" u="none">
                <a:solidFill>
                  <a:srgbClr val="0F172A"/>
                </a:solidFill>
                <a:latin typeface="Inter"/>
              </a:rPr>
              <a:t>Semantic Cache</a:t>
            </a:r>
          </a:p>
        </p:txBody>
      </p:sp>
      <p:sp>
        <p:nvSpPr>
          <p:cNvPr id="21" name="TextBox 20"/>
          <p:cNvSpPr txBox="1"/>
          <p:nvPr/>
        </p:nvSpPr>
        <p:spPr>
          <a:xfrm>
            <a:off x="1914525" y="4992885"/>
            <a:ext cx="38100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Normalizes colloquial phrasing to generate robust semantic cache keys, handling unseen paraphrases instantly without model inference overhead.</a:t>
            </a:r>
          </a:p>
        </p:txBody>
      </p:sp>
      <p:sp>
        <p:nvSpPr>
          <p:cNvPr id="22" name="TextBox 21"/>
          <p:cNvSpPr txBox="1"/>
          <p:nvPr/>
        </p:nvSpPr>
        <p:spPr>
          <a:xfrm>
            <a:off x="7400925" y="4640460"/>
            <a:ext cx="4791075" cy="276225"/>
          </a:xfrm>
          <a:prstGeom prst="rect">
            <a:avLst/>
          </a:prstGeom>
          <a:noFill/>
        </p:spPr>
        <p:txBody>
          <a:bodyPr wrap="none" lIns="0" tIns="0" rIns="0" bIns="0" anchor="ctr">
            <a:spAutoFit/>
          </a:bodyPr>
          <a:lstStyle/>
          <a:p>
            <a:pPr algn="l"/>
            <a:r>
              <a:rPr sz="1800" b="1" i="0" u="none">
                <a:solidFill>
                  <a:srgbClr val="0F172A"/>
                </a:solidFill>
                <a:latin typeface="Inter"/>
              </a:rPr>
              <a:t>FastAPI &amp; Pydantic</a:t>
            </a:r>
          </a:p>
        </p:txBody>
      </p:sp>
      <p:sp>
        <p:nvSpPr>
          <p:cNvPr id="23" name="TextBox 22"/>
          <p:cNvSpPr txBox="1"/>
          <p:nvPr/>
        </p:nvSpPr>
        <p:spPr>
          <a:xfrm>
            <a:off x="7400925" y="4992885"/>
            <a:ext cx="3810000" cy="6858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Exposes a lightweight, containerized microservice that guarantees 100% adherence to schema definitions, exact field types, and payload integrity.</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Rounded Rectangle 1">
            <a:extLst>
              <a:ext uri="{FF2B5EF4-FFF2-40B4-BE49-F238E27FC236}">
                <a16:creationId xmlns:a16="http://schemas.microsoft.com/office/drawing/2014/main" id="{59230FF6-210E-FBC5-F3E3-E4E474C30D3E}"/>
              </a:ext>
            </a:extLst>
          </p:cNvPr>
          <p:cNvSpPr/>
          <p:nvPr/>
        </p:nvSpPr>
        <p:spPr>
          <a:xfrm>
            <a:off x="8218883" y="3500362"/>
            <a:ext cx="3265885" cy="851505"/>
          </a:xfrm>
          <a:prstGeom prst="roundRect">
            <a:avLst>
              <a:gd name="adj" fmla="val 885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1">
            <a:extLst>
              <a:ext uri="{FF2B5EF4-FFF2-40B4-BE49-F238E27FC236}">
                <a16:creationId xmlns:a16="http://schemas.microsoft.com/office/drawing/2014/main" id="{D7075B40-6C48-86F2-E79D-3DB57C2D511A}"/>
              </a:ext>
            </a:extLst>
          </p:cNvPr>
          <p:cNvSpPr/>
          <p:nvPr/>
        </p:nvSpPr>
        <p:spPr>
          <a:xfrm>
            <a:off x="4446718" y="3500362"/>
            <a:ext cx="3478084" cy="851505"/>
          </a:xfrm>
          <a:prstGeom prst="roundRect">
            <a:avLst>
              <a:gd name="adj" fmla="val 885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ounded Rectangle 1">
            <a:extLst>
              <a:ext uri="{FF2B5EF4-FFF2-40B4-BE49-F238E27FC236}">
                <a16:creationId xmlns:a16="http://schemas.microsoft.com/office/drawing/2014/main" id="{430C3172-DE18-FBBD-33EF-69BA1901F137}"/>
              </a:ext>
            </a:extLst>
          </p:cNvPr>
          <p:cNvSpPr/>
          <p:nvPr/>
        </p:nvSpPr>
        <p:spPr>
          <a:xfrm>
            <a:off x="558800" y="3500362"/>
            <a:ext cx="3708400" cy="851505"/>
          </a:xfrm>
          <a:prstGeom prst="roundRect">
            <a:avLst>
              <a:gd name="adj" fmla="val 885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 name="TextBox 1"/>
          <p:cNvSpPr txBox="1"/>
          <p:nvPr/>
        </p:nvSpPr>
        <p:spPr>
          <a:xfrm>
            <a:off x="-285750" y="609600"/>
            <a:ext cx="12763500" cy="190500"/>
          </a:xfrm>
          <a:prstGeom prst="rect">
            <a:avLst/>
          </a:prstGeom>
          <a:noFill/>
        </p:spPr>
        <p:txBody>
          <a:bodyPr wrap="none" lIns="0" tIns="0" rIns="0" bIns="0" anchor="t">
            <a:spAutoFit/>
          </a:bodyPr>
          <a:lstStyle/>
          <a:p>
            <a:pPr algn="ctr"/>
            <a:r>
              <a:rPr sz="1200" b="1" i="0" u="none">
                <a:solidFill>
                  <a:srgbClr val="2563EB"/>
                </a:solidFill>
                <a:latin typeface="Inter"/>
              </a:rPr>
              <a:t>THE IMPACT &amp; USE CASE</a:t>
            </a:r>
          </a:p>
        </p:txBody>
      </p:sp>
      <p:sp>
        <p:nvSpPr>
          <p:cNvPr id="3" name="TextBox 2"/>
          <p:cNvSpPr txBox="1"/>
          <p:nvPr/>
        </p:nvSpPr>
        <p:spPr>
          <a:xfrm>
            <a:off x="-285750" y="914400"/>
            <a:ext cx="12763500" cy="460920"/>
          </a:xfrm>
          <a:prstGeom prst="rect">
            <a:avLst/>
          </a:prstGeom>
          <a:noFill/>
        </p:spPr>
        <p:txBody>
          <a:bodyPr wrap="none" lIns="0" tIns="0" rIns="0" bIns="0" anchor="t">
            <a:spAutoFit/>
          </a:bodyPr>
          <a:lstStyle/>
          <a:p>
            <a:pPr algn="ctr">
              <a:lnSpc>
                <a:spcPts val="3629"/>
              </a:lnSpc>
            </a:pPr>
            <a:r>
              <a:rPr sz="3300" b="1" i="0" u="none">
                <a:solidFill>
                  <a:srgbClr val="0F172A"/>
                </a:solidFill>
                <a:latin typeface="Inter"/>
              </a:rPr>
              <a:t>Massive scale. Millisecond resolution.</a:t>
            </a:r>
          </a:p>
        </p:txBody>
      </p:sp>
      <p:sp>
        <p:nvSpPr>
          <p:cNvPr id="4" name="TextBox 3"/>
          <p:cNvSpPr txBox="1"/>
          <p:nvPr/>
        </p:nvSpPr>
        <p:spPr>
          <a:xfrm>
            <a:off x="1016793" y="2137320"/>
            <a:ext cx="3167062" cy="762000"/>
          </a:xfrm>
          <a:prstGeom prst="rect">
            <a:avLst/>
          </a:prstGeom>
          <a:noFill/>
        </p:spPr>
        <p:txBody>
          <a:bodyPr wrap="none" lIns="0" tIns="0" rIns="0" bIns="0" anchor="t">
            <a:spAutoFit/>
          </a:bodyPr>
          <a:lstStyle/>
          <a:p>
            <a:pPr algn="ctr">
              <a:lnSpc>
                <a:spcPts val="6000"/>
              </a:lnSpc>
            </a:pPr>
            <a:r>
              <a:rPr sz="6000" b="1" i="0" u="none">
                <a:solidFill>
                  <a:srgbClr val="2563EB"/>
                </a:solidFill>
                <a:latin typeface="Inter"/>
              </a:rPr>
              <a:t>&lt;300</a:t>
            </a:r>
            <a:r>
              <a:rPr sz="3000" b="1" i="0" u="none">
                <a:latin typeface="Inter"/>
              </a:rPr>
              <a:t>ms</a:t>
            </a:r>
          </a:p>
        </p:txBody>
      </p:sp>
      <p:sp>
        <p:nvSpPr>
          <p:cNvPr id="5" name="TextBox 4"/>
          <p:cNvSpPr txBox="1"/>
          <p:nvPr/>
        </p:nvSpPr>
        <p:spPr>
          <a:xfrm>
            <a:off x="1368028" y="3051720"/>
            <a:ext cx="2464593" cy="247650"/>
          </a:xfrm>
          <a:prstGeom prst="rect">
            <a:avLst/>
          </a:prstGeom>
          <a:noFill/>
        </p:spPr>
        <p:txBody>
          <a:bodyPr wrap="none" lIns="0" tIns="0" rIns="0" bIns="0" anchor="t">
            <a:spAutoFit/>
          </a:bodyPr>
          <a:lstStyle/>
          <a:p>
            <a:pPr algn="ctr"/>
            <a:r>
              <a:rPr sz="1650" b="1" i="0" u="none">
                <a:solidFill>
                  <a:srgbClr val="0F172A"/>
                </a:solidFill>
                <a:latin typeface="Inter"/>
              </a:rPr>
              <a:t>P95 Cache Latency</a:t>
            </a:r>
          </a:p>
        </p:txBody>
      </p:sp>
      <p:sp>
        <p:nvSpPr>
          <p:cNvPr id="6" name="TextBox 5"/>
          <p:cNvSpPr txBox="1"/>
          <p:nvPr/>
        </p:nvSpPr>
        <p:spPr>
          <a:xfrm>
            <a:off x="707232" y="3588393"/>
            <a:ext cx="3559437" cy="675441"/>
          </a:xfrm>
          <a:prstGeom prst="rect">
            <a:avLst/>
          </a:prstGeom>
          <a:noFill/>
        </p:spPr>
        <p:txBody>
          <a:bodyPr wrap="square" lIns="0" tIns="0" rIns="0" bIns="0" anchor="t">
            <a:spAutoFit/>
          </a:bodyPr>
          <a:lstStyle/>
          <a:p>
            <a:pPr algn="ctr">
              <a:lnSpc>
                <a:spcPts val="1800"/>
              </a:lnSpc>
            </a:pPr>
            <a:r>
              <a:rPr sz="1200" b="0" i="0" u="none" dirty="0">
                <a:solidFill>
                  <a:srgbClr val="475569"/>
                </a:solidFill>
                <a:latin typeface="Inter"/>
              </a:rPr>
              <a:t>Achieves sub-300ms latency for cached scenarios, instantly bypassing the traditional 15-minute manual triage bottleneck.</a:t>
            </a:r>
          </a:p>
        </p:txBody>
      </p:sp>
      <p:sp>
        <p:nvSpPr>
          <p:cNvPr id="7" name="TextBox 6"/>
          <p:cNvSpPr txBox="1"/>
          <p:nvPr/>
        </p:nvSpPr>
        <p:spPr>
          <a:xfrm>
            <a:off x="5700712" y="2137320"/>
            <a:ext cx="790575" cy="762000"/>
          </a:xfrm>
          <a:prstGeom prst="rect">
            <a:avLst/>
          </a:prstGeom>
          <a:noFill/>
        </p:spPr>
        <p:txBody>
          <a:bodyPr wrap="none" lIns="0" tIns="0" rIns="0" bIns="0" anchor="t">
            <a:spAutoFit/>
          </a:bodyPr>
          <a:lstStyle/>
          <a:p>
            <a:pPr algn="ctr">
              <a:lnSpc>
                <a:spcPts val="6000"/>
              </a:lnSpc>
            </a:pPr>
            <a:r>
              <a:rPr sz="6000" b="1" i="0" u="none">
                <a:solidFill>
                  <a:srgbClr val="2563EB"/>
                </a:solidFill>
                <a:latin typeface="Inter"/>
              </a:rPr>
              <a:t>0</a:t>
            </a:r>
          </a:p>
        </p:txBody>
      </p:sp>
      <p:sp>
        <p:nvSpPr>
          <p:cNvPr id="8" name="TextBox 7"/>
          <p:cNvSpPr txBox="1"/>
          <p:nvPr/>
        </p:nvSpPr>
        <p:spPr>
          <a:xfrm>
            <a:off x="5429250" y="3051720"/>
            <a:ext cx="1333500" cy="247650"/>
          </a:xfrm>
          <a:prstGeom prst="rect">
            <a:avLst/>
          </a:prstGeom>
          <a:noFill/>
        </p:spPr>
        <p:txBody>
          <a:bodyPr wrap="none" lIns="0" tIns="0" rIns="0" bIns="0" anchor="t">
            <a:spAutoFit/>
          </a:bodyPr>
          <a:lstStyle/>
          <a:p>
            <a:pPr algn="ctr"/>
            <a:r>
              <a:rPr sz="1650" b="1" i="0" u="none">
                <a:solidFill>
                  <a:srgbClr val="0F172A"/>
                </a:solidFill>
                <a:latin typeface="Inter"/>
              </a:rPr>
              <a:t>URL Leaks</a:t>
            </a:r>
          </a:p>
        </p:txBody>
      </p:sp>
      <p:sp>
        <p:nvSpPr>
          <p:cNvPr id="9" name="TextBox 8"/>
          <p:cNvSpPr txBox="1"/>
          <p:nvPr/>
        </p:nvSpPr>
        <p:spPr>
          <a:xfrm>
            <a:off x="4536479" y="3601542"/>
            <a:ext cx="3298562" cy="675441"/>
          </a:xfrm>
          <a:prstGeom prst="rect">
            <a:avLst/>
          </a:prstGeom>
          <a:noFill/>
        </p:spPr>
        <p:txBody>
          <a:bodyPr wrap="square" lIns="0" tIns="0" rIns="0" bIns="0" anchor="t">
            <a:spAutoFit/>
          </a:bodyPr>
          <a:lstStyle/>
          <a:p>
            <a:pPr algn="ctr">
              <a:lnSpc>
                <a:spcPts val="1800"/>
              </a:lnSpc>
            </a:pPr>
            <a:r>
              <a:rPr sz="1200" b="0" i="0" u="none" dirty="0">
                <a:solidFill>
                  <a:srgbClr val="475569"/>
                </a:solidFill>
                <a:latin typeface="Inter"/>
              </a:rPr>
              <a:t>Guarantees absolute prohibition of extraneous web links through strict programmed suppression and regex filtering.</a:t>
            </a:r>
          </a:p>
        </p:txBody>
      </p:sp>
      <p:sp>
        <p:nvSpPr>
          <p:cNvPr id="10" name="TextBox 9"/>
          <p:cNvSpPr txBox="1"/>
          <p:nvPr/>
        </p:nvSpPr>
        <p:spPr>
          <a:xfrm>
            <a:off x="8526065" y="2137320"/>
            <a:ext cx="2131218" cy="762000"/>
          </a:xfrm>
          <a:prstGeom prst="rect">
            <a:avLst/>
          </a:prstGeom>
          <a:noFill/>
        </p:spPr>
        <p:txBody>
          <a:bodyPr wrap="none" lIns="0" tIns="0" rIns="0" bIns="0" anchor="t">
            <a:spAutoFit/>
          </a:bodyPr>
          <a:lstStyle/>
          <a:p>
            <a:pPr algn="ctr">
              <a:lnSpc>
                <a:spcPts val="6000"/>
              </a:lnSpc>
            </a:pPr>
            <a:r>
              <a:rPr sz="6000" b="1" i="0" u="none">
                <a:solidFill>
                  <a:srgbClr val="2563EB"/>
                </a:solidFill>
                <a:latin typeface="Inter"/>
              </a:rPr>
              <a:t>10k+</a:t>
            </a:r>
          </a:p>
        </p:txBody>
      </p:sp>
      <p:sp>
        <p:nvSpPr>
          <p:cNvPr id="11" name="TextBox 10"/>
          <p:cNvSpPr txBox="1"/>
          <p:nvPr/>
        </p:nvSpPr>
        <p:spPr>
          <a:xfrm>
            <a:off x="8389143" y="3051720"/>
            <a:ext cx="2405062" cy="247650"/>
          </a:xfrm>
          <a:prstGeom prst="rect">
            <a:avLst/>
          </a:prstGeom>
          <a:noFill/>
        </p:spPr>
        <p:txBody>
          <a:bodyPr wrap="none" lIns="0" tIns="0" rIns="0" bIns="0" anchor="t">
            <a:spAutoFit/>
          </a:bodyPr>
          <a:lstStyle/>
          <a:p>
            <a:pPr algn="ctr"/>
            <a:r>
              <a:rPr sz="1650" b="1" i="0" u="none">
                <a:solidFill>
                  <a:srgbClr val="0F172A"/>
                </a:solidFill>
                <a:latin typeface="Inter"/>
              </a:rPr>
              <a:t>Mapped Scenarios</a:t>
            </a:r>
          </a:p>
        </p:txBody>
      </p:sp>
      <p:sp>
        <p:nvSpPr>
          <p:cNvPr id="12" name="TextBox 11"/>
          <p:cNvSpPr txBox="1"/>
          <p:nvPr/>
        </p:nvSpPr>
        <p:spPr>
          <a:xfrm>
            <a:off x="8389143" y="3545641"/>
            <a:ext cx="3095625" cy="675441"/>
          </a:xfrm>
          <a:prstGeom prst="rect">
            <a:avLst/>
          </a:prstGeom>
          <a:noFill/>
        </p:spPr>
        <p:txBody>
          <a:bodyPr wrap="square" lIns="0" tIns="0" rIns="0" bIns="0" anchor="t">
            <a:spAutoFit/>
          </a:bodyPr>
          <a:lstStyle/>
          <a:p>
            <a:pPr algn="ctr">
              <a:lnSpc>
                <a:spcPts val="1800"/>
              </a:lnSpc>
            </a:pPr>
            <a:r>
              <a:rPr sz="1200" b="0" i="0" u="none" dirty="0">
                <a:solidFill>
                  <a:srgbClr val="475569"/>
                </a:solidFill>
                <a:latin typeface="Inter"/>
              </a:rPr>
              <a:t>Architecture is highly scalable, designed to process and resolve over 10,000 distinct troubleshooting scenarios globally.</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5857875" y="1870620"/>
            <a:ext cx="5572125" cy="4391025"/>
          </a:xfrm>
          <a:prstGeom prst="roundRect">
            <a:avLst>
              <a:gd name="adj" fmla="val 4338"/>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762000" y="2299245"/>
            <a:ext cx="4638675" cy="19050"/>
          </a:xfrm>
          <a:prstGeom prst="rect">
            <a:avLst/>
          </a:prstGeom>
          <a:solidFill>
            <a:srgbClr val="EFF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ectangle 3"/>
          <p:cNvSpPr/>
          <p:nvPr/>
        </p:nvSpPr>
        <p:spPr>
          <a:xfrm>
            <a:off x="6324600" y="2765970"/>
            <a:ext cx="4638675" cy="19050"/>
          </a:xfrm>
          <a:prstGeom prst="rect">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762000" y="2642145"/>
            <a:ext cx="190500" cy="200025"/>
          </a:xfrm>
          <a:prstGeom prst="rect">
            <a:avLst/>
          </a:prstGeom>
        </p:spPr>
      </p:pic>
      <p:pic>
        <p:nvPicPr>
          <p:cNvPr id="6" name="Picture 5" descr="image.png"/>
          <p:cNvPicPr>
            <a:picLocks noChangeAspect="1"/>
          </p:cNvPicPr>
          <p:nvPr/>
        </p:nvPicPr>
        <p:blipFill>
          <a:blip r:embed="rId2"/>
          <a:stretch>
            <a:fillRect/>
          </a:stretch>
        </p:blipFill>
        <p:spPr>
          <a:xfrm>
            <a:off x="762000" y="4042320"/>
            <a:ext cx="190500" cy="200025"/>
          </a:xfrm>
          <a:prstGeom prst="rect">
            <a:avLst/>
          </a:prstGeom>
        </p:spPr>
      </p:pic>
      <p:pic>
        <p:nvPicPr>
          <p:cNvPr id="7" name="Picture 6" descr="image.png"/>
          <p:cNvPicPr>
            <a:picLocks noChangeAspect="1"/>
          </p:cNvPicPr>
          <p:nvPr/>
        </p:nvPicPr>
        <p:blipFill>
          <a:blip r:embed="rId2"/>
          <a:stretch>
            <a:fillRect/>
          </a:stretch>
        </p:blipFill>
        <p:spPr>
          <a:xfrm>
            <a:off x="762000" y="5442495"/>
            <a:ext cx="190500" cy="200025"/>
          </a:xfrm>
          <a:prstGeom prst="rect">
            <a:avLst/>
          </a:prstGeom>
        </p:spPr>
      </p:pic>
      <p:sp>
        <p:nvSpPr>
          <p:cNvPr id="8" name="TextBox 7"/>
          <p:cNvSpPr txBox="1"/>
          <p:nvPr/>
        </p:nvSpPr>
        <p:spPr>
          <a:xfrm>
            <a:off x="762000" y="609600"/>
            <a:ext cx="11430000" cy="460920"/>
          </a:xfrm>
          <a:prstGeom prst="rect">
            <a:avLst/>
          </a:prstGeom>
          <a:noFill/>
        </p:spPr>
        <p:txBody>
          <a:bodyPr wrap="none" lIns="0" tIns="0" rIns="0" bIns="0" anchor="t">
            <a:spAutoFit/>
          </a:bodyPr>
          <a:lstStyle/>
          <a:p>
            <a:pPr algn="l">
              <a:lnSpc>
                <a:spcPts val="3629"/>
              </a:lnSpc>
            </a:pPr>
            <a:r>
              <a:rPr sz="3300" b="1" i="0" u="none">
                <a:solidFill>
                  <a:srgbClr val="0F172A"/>
                </a:solidFill>
                <a:latin typeface="Inter"/>
              </a:rPr>
              <a:t>Innovation Highlights &amp; Limitations</a:t>
            </a:r>
          </a:p>
        </p:txBody>
      </p:sp>
      <p:sp>
        <p:nvSpPr>
          <p:cNvPr id="9" name="TextBox 8"/>
          <p:cNvSpPr txBox="1"/>
          <p:nvPr/>
        </p:nvSpPr>
        <p:spPr>
          <a:xfrm>
            <a:off x="762000" y="1184820"/>
            <a:ext cx="9525000" cy="228600"/>
          </a:xfrm>
          <a:prstGeom prst="rect">
            <a:avLst/>
          </a:prstGeom>
          <a:noFill/>
        </p:spPr>
        <p:txBody>
          <a:bodyPr wrap="none" lIns="0" tIns="0" rIns="0" bIns="0" anchor="t">
            <a:spAutoFit/>
          </a:bodyPr>
          <a:lstStyle/>
          <a:p>
            <a:pPr algn="l"/>
            <a:r>
              <a:rPr sz="1500" b="0" i="0" u="none">
                <a:solidFill>
                  <a:srgbClr val="475569"/>
                </a:solidFill>
                <a:latin typeface="Inter"/>
              </a:rPr>
              <a:t>Engineering around real-world LLM constraints.</a:t>
            </a:r>
          </a:p>
        </p:txBody>
      </p:sp>
      <p:sp>
        <p:nvSpPr>
          <p:cNvPr id="10" name="TextBox 9"/>
          <p:cNvSpPr txBox="1"/>
          <p:nvPr/>
        </p:nvSpPr>
        <p:spPr>
          <a:xfrm>
            <a:off x="762000" y="1870620"/>
            <a:ext cx="4733925" cy="295275"/>
          </a:xfrm>
          <a:prstGeom prst="rect">
            <a:avLst/>
          </a:prstGeom>
          <a:noFill/>
        </p:spPr>
        <p:txBody>
          <a:bodyPr wrap="square" lIns="0" tIns="0" rIns="0" bIns="0" anchor="t">
            <a:spAutoFit/>
          </a:bodyPr>
          <a:lstStyle/>
          <a:p>
            <a:pPr algn="l"/>
            <a:r>
              <a:rPr sz="1800" b="1" i="0" u="none">
                <a:solidFill>
                  <a:srgbClr val="2563EB"/>
                </a:solidFill>
                <a:latin typeface="Inter"/>
              </a:rPr>
              <a:t>Core Innovations</a:t>
            </a:r>
          </a:p>
        </p:txBody>
      </p:sp>
      <p:sp>
        <p:nvSpPr>
          <p:cNvPr id="11" name="TextBox 10"/>
          <p:cNvSpPr txBox="1"/>
          <p:nvPr/>
        </p:nvSpPr>
        <p:spPr>
          <a:xfrm>
            <a:off x="6324600" y="2337345"/>
            <a:ext cx="4733925" cy="295275"/>
          </a:xfrm>
          <a:prstGeom prst="rect">
            <a:avLst/>
          </a:prstGeom>
          <a:noFill/>
        </p:spPr>
        <p:txBody>
          <a:bodyPr wrap="square" lIns="0" tIns="0" rIns="0" bIns="0" anchor="t">
            <a:spAutoFit/>
          </a:bodyPr>
          <a:lstStyle/>
          <a:p>
            <a:pPr algn="l"/>
            <a:r>
              <a:rPr sz="1800" b="1" i="0" u="none">
                <a:solidFill>
                  <a:srgbClr val="EF4444"/>
                </a:solidFill>
                <a:latin typeface="Inter"/>
              </a:rPr>
              <a:t>Results &amp; Limitations</a:t>
            </a:r>
          </a:p>
        </p:txBody>
      </p:sp>
      <p:sp>
        <p:nvSpPr>
          <p:cNvPr id="12" name="TextBox 11"/>
          <p:cNvSpPr txBox="1"/>
          <p:nvPr/>
        </p:nvSpPr>
        <p:spPr>
          <a:xfrm>
            <a:off x="1104900" y="2623095"/>
            <a:ext cx="4391025" cy="1095375"/>
          </a:xfrm>
          <a:prstGeom prst="rect">
            <a:avLst/>
          </a:prstGeom>
          <a:noFill/>
        </p:spPr>
        <p:txBody>
          <a:bodyPr wrap="square" lIns="0" tIns="0" rIns="0" bIns="0" anchor="t">
            <a:spAutoFit/>
          </a:bodyPr>
          <a:lstStyle/>
          <a:p>
            <a:pPr algn="l">
              <a:lnSpc>
                <a:spcPts val="2025"/>
              </a:lnSpc>
            </a:pPr>
            <a:r>
              <a:rPr sz="1500" b="1" i="0" u="none">
                <a:solidFill>
                  <a:srgbClr val="0F172A"/>
                </a:solidFill>
                <a:latin typeface="Inter"/>
              </a:rPr>
              <a:t>Semantic Keying Cache relies on unified semantic intent embeddings rather than brittle, exact-string matches to handle diverse phrasing.</a:t>
            </a:r>
          </a:p>
        </p:txBody>
      </p:sp>
      <p:sp>
        <p:nvSpPr>
          <p:cNvPr id="13" name="TextBox 12"/>
          <p:cNvSpPr txBox="1"/>
          <p:nvPr/>
        </p:nvSpPr>
        <p:spPr>
          <a:xfrm>
            <a:off x="1104900" y="4023270"/>
            <a:ext cx="4391025" cy="1095375"/>
          </a:xfrm>
          <a:prstGeom prst="rect">
            <a:avLst/>
          </a:prstGeom>
          <a:noFill/>
        </p:spPr>
        <p:txBody>
          <a:bodyPr wrap="square" lIns="0" tIns="0" rIns="0" bIns="0" anchor="t">
            <a:spAutoFit/>
          </a:bodyPr>
          <a:lstStyle/>
          <a:p>
            <a:pPr algn="l">
              <a:lnSpc>
                <a:spcPts val="2025"/>
              </a:lnSpc>
            </a:pPr>
            <a:r>
              <a:rPr sz="1500" b="1" i="0" u="none">
                <a:solidFill>
                  <a:srgbClr val="0F172A"/>
                </a:solidFill>
                <a:latin typeface="Inter"/>
              </a:rPr>
              <a:t>One Action = One Screen Prevents UI fragmentation by ensuring multiple steps occurring on the same physical screen are grouped under a single action.</a:t>
            </a:r>
          </a:p>
        </p:txBody>
      </p:sp>
      <p:sp>
        <p:nvSpPr>
          <p:cNvPr id="14" name="TextBox 13"/>
          <p:cNvSpPr txBox="1"/>
          <p:nvPr/>
        </p:nvSpPr>
        <p:spPr>
          <a:xfrm>
            <a:off x="1104900" y="5423445"/>
            <a:ext cx="4391025" cy="838200"/>
          </a:xfrm>
          <a:prstGeom prst="rect">
            <a:avLst/>
          </a:prstGeom>
          <a:noFill/>
        </p:spPr>
        <p:txBody>
          <a:bodyPr wrap="square" lIns="0" tIns="0" rIns="0" bIns="0" anchor="t">
            <a:spAutoFit/>
          </a:bodyPr>
          <a:lstStyle/>
          <a:p>
            <a:pPr algn="l">
              <a:lnSpc>
                <a:spcPts val="2025"/>
              </a:lnSpc>
            </a:pPr>
            <a:r>
              <a:rPr sz="1500" b="1" i="0" u="none">
                <a:solidFill>
                  <a:srgbClr val="0F172A"/>
                </a:solidFill>
                <a:latin typeface="Inter"/>
              </a:rPr>
              <a:t>Masked URI Matching Vector indexing is performed strictly on descriptive metadata fields rather than obfuscated URI tokens.</a:t>
            </a:r>
          </a:p>
        </p:txBody>
      </p:sp>
      <p:sp>
        <p:nvSpPr>
          <p:cNvPr id="15" name="TextBox 14"/>
          <p:cNvSpPr txBox="1"/>
          <p:nvPr/>
        </p:nvSpPr>
        <p:spPr>
          <a:xfrm>
            <a:off x="6324600" y="3089820"/>
            <a:ext cx="5867400" cy="228600"/>
          </a:xfrm>
          <a:prstGeom prst="rect">
            <a:avLst/>
          </a:prstGeom>
          <a:noFill/>
        </p:spPr>
        <p:txBody>
          <a:bodyPr wrap="none" lIns="0" tIns="0" rIns="0" bIns="0" anchor="t">
            <a:spAutoFit/>
          </a:bodyPr>
          <a:lstStyle/>
          <a:p>
            <a:pPr algn="l"/>
            <a:r>
              <a:rPr sz="1500" b="1" i="0" u="none">
                <a:solidFill>
                  <a:srgbClr val="0F172A"/>
                </a:solidFill>
                <a:latin typeface="Inter"/>
              </a:rPr>
              <a:t>Prompt-Only Constraint Failures</a:t>
            </a:r>
          </a:p>
        </p:txBody>
      </p:sp>
      <p:sp>
        <p:nvSpPr>
          <p:cNvPr id="16" name="TextBox 15"/>
          <p:cNvSpPr txBox="1"/>
          <p:nvPr/>
        </p:nvSpPr>
        <p:spPr>
          <a:xfrm>
            <a:off x="6324600" y="3394620"/>
            <a:ext cx="4733925" cy="731341"/>
          </a:xfrm>
          <a:prstGeom prst="rect">
            <a:avLst/>
          </a:prstGeom>
          <a:noFill/>
        </p:spPr>
        <p:txBody>
          <a:bodyPr wrap="square" lIns="0" tIns="0" rIns="0" bIns="0" anchor="t">
            <a:spAutoFit/>
          </a:bodyPr>
          <a:lstStyle/>
          <a:p>
            <a:pPr algn="l">
              <a:lnSpc>
                <a:spcPts val="1920"/>
              </a:lnSpc>
            </a:pPr>
            <a:r>
              <a:rPr sz="1200" b="0" i="0" u="none">
                <a:solidFill>
                  <a:srgbClr val="475569"/>
                </a:solidFill>
                <a:latin typeface="Inter"/>
              </a:rPr>
              <a:t>Natural language word count constraints occasionally fail. We engineered strict programmatic trimming and validation in the application layer to enforce the schema.</a:t>
            </a:r>
          </a:p>
        </p:txBody>
      </p:sp>
      <p:sp>
        <p:nvSpPr>
          <p:cNvPr id="17" name="TextBox 16"/>
          <p:cNvSpPr txBox="1"/>
          <p:nvPr/>
        </p:nvSpPr>
        <p:spPr>
          <a:xfrm>
            <a:off x="6324600" y="4430762"/>
            <a:ext cx="5867400" cy="228600"/>
          </a:xfrm>
          <a:prstGeom prst="rect">
            <a:avLst/>
          </a:prstGeom>
          <a:noFill/>
        </p:spPr>
        <p:txBody>
          <a:bodyPr wrap="none" lIns="0" tIns="0" rIns="0" bIns="0" anchor="t">
            <a:spAutoFit/>
          </a:bodyPr>
          <a:lstStyle/>
          <a:p>
            <a:pPr algn="l"/>
            <a:r>
              <a:rPr sz="1500" b="1" i="0" u="none">
                <a:solidFill>
                  <a:srgbClr val="0F172A"/>
                </a:solidFill>
                <a:latin typeface="Inter"/>
              </a:rPr>
              <a:t>LLM Pre-training Drift</a:t>
            </a:r>
          </a:p>
        </p:txBody>
      </p:sp>
      <p:sp>
        <p:nvSpPr>
          <p:cNvPr id="18" name="TextBox 17"/>
          <p:cNvSpPr txBox="1"/>
          <p:nvPr/>
        </p:nvSpPr>
        <p:spPr>
          <a:xfrm>
            <a:off x="6324600" y="4735562"/>
            <a:ext cx="4733925" cy="975121"/>
          </a:xfrm>
          <a:prstGeom prst="rect">
            <a:avLst/>
          </a:prstGeom>
          <a:noFill/>
        </p:spPr>
        <p:txBody>
          <a:bodyPr wrap="square" lIns="0" tIns="0" rIns="0" bIns="0" anchor="t">
            <a:spAutoFit/>
          </a:bodyPr>
          <a:lstStyle/>
          <a:p>
            <a:pPr algn="l">
              <a:lnSpc>
                <a:spcPts val="1920"/>
              </a:lnSpc>
            </a:pPr>
            <a:r>
              <a:rPr sz="1200" b="0" i="0" u="none">
                <a:solidFill>
                  <a:srgbClr val="475569"/>
                </a:solidFill>
                <a:latin typeface="Inter"/>
              </a:rPr>
              <a:t>Base models naturally attempt to inject generic support links (e.g., samsung.com/support) based on their training data, making aggressive programmatic regex stripping a mandatory safeguard.</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Rounded Rectangle 1"/>
          <p:cNvSpPr/>
          <p:nvPr/>
        </p:nvSpPr>
        <p:spPr>
          <a:xfrm>
            <a:off x="762000" y="2735460"/>
            <a:ext cx="3403550" cy="2571750"/>
          </a:xfrm>
          <a:prstGeom prst="roundRect">
            <a:avLst>
              <a:gd name="adj" fmla="val 740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ounded Rectangle 2"/>
          <p:cNvSpPr/>
          <p:nvPr/>
        </p:nvSpPr>
        <p:spPr>
          <a:xfrm>
            <a:off x="4394150" y="2735460"/>
            <a:ext cx="3403550" cy="2571750"/>
          </a:xfrm>
          <a:prstGeom prst="roundRect">
            <a:avLst>
              <a:gd name="adj" fmla="val 7407"/>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Rounded Rectangle 3"/>
          <p:cNvSpPr/>
          <p:nvPr/>
        </p:nvSpPr>
        <p:spPr>
          <a:xfrm>
            <a:off x="8026300" y="2735460"/>
            <a:ext cx="3522233" cy="2571750"/>
          </a:xfrm>
          <a:prstGeom prst="roundRect">
            <a:avLst>
              <a:gd name="adj" fmla="val 8130"/>
            </a:avLst>
          </a:prstGeom>
          <a:solidFill>
            <a:srgbClr val="F1F5F9"/>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5" name="Picture 4" descr="image.png"/>
          <p:cNvPicPr>
            <a:picLocks noChangeAspect="1"/>
          </p:cNvPicPr>
          <p:nvPr/>
        </p:nvPicPr>
        <p:blipFill>
          <a:blip r:embed="rId2"/>
          <a:stretch>
            <a:fillRect/>
          </a:stretch>
        </p:blipFill>
        <p:spPr>
          <a:xfrm>
            <a:off x="1076325" y="3049785"/>
            <a:ext cx="457200" cy="457200"/>
          </a:xfrm>
          <a:prstGeom prst="rect">
            <a:avLst/>
          </a:prstGeom>
        </p:spPr>
      </p:pic>
      <p:pic>
        <p:nvPicPr>
          <p:cNvPr id="6" name="Picture 5" descr="image.png"/>
          <p:cNvPicPr>
            <a:picLocks noChangeAspect="1"/>
          </p:cNvPicPr>
          <p:nvPr/>
        </p:nvPicPr>
        <p:blipFill>
          <a:blip r:embed="rId3"/>
          <a:stretch>
            <a:fillRect/>
          </a:stretch>
        </p:blipFill>
        <p:spPr>
          <a:xfrm>
            <a:off x="4708475" y="3049785"/>
            <a:ext cx="457200" cy="457200"/>
          </a:xfrm>
          <a:prstGeom prst="rect">
            <a:avLst/>
          </a:prstGeom>
        </p:spPr>
      </p:pic>
      <p:pic>
        <p:nvPicPr>
          <p:cNvPr id="7" name="Picture 6" descr="image.png"/>
          <p:cNvPicPr>
            <a:picLocks noChangeAspect="1"/>
          </p:cNvPicPr>
          <p:nvPr/>
        </p:nvPicPr>
        <p:blipFill>
          <a:blip r:embed="rId4"/>
          <a:stretch>
            <a:fillRect/>
          </a:stretch>
        </p:blipFill>
        <p:spPr>
          <a:xfrm>
            <a:off x="8340625" y="3049785"/>
            <a:ext cx="490108" cy="490108"/>
          </a:xfrm>
          <a:prstGeom prst="rect">
            <a:avLst/>
          </a:prstGeom>
        </p:spPr>
      </p:pic>
      <p:pic>
        <p:nvPicPr>
          <p:cNvPr id="8" name="Picture 7" descr="image.png"/>
          <p:cNvPicPr>
            <a:picLocks noChangeAspect="1"/>
          </p:cNvPicPr>
          <p:nvPr/>
        </p:nvPicPr>
        <p:blipFill>
          <a:blip r:embed="rId5"/>
          <a:stretch>
            <a:fillRect/>
          </a:stretch>
        </p:blipFill>
        <p:spPr>
          <a:xfrm>
            <a:off x="1195387" y="3183135"/>
            <a:ext cx="219075" cy="190500"/>
          </a:xfrm>
          <a:prstGeom prst="rect">
            <a:avLst/>
          </a:prstGeom>
        </p:spPr>
      </p:pic>
      <p:pic>
        <p:nvPicPr>
          <p:cNvPr id="9" name="Picture 8" descr="image.png"/>
          <p:cNvPicPr>
            <a:picLocks noChangeAspect="1"/>
          </p:cNvPicPr>
          <p:nvPr/>
        </p:nvPicPr>
        <p:blipFill>
          <a:blip r:embed="rId6"/>
          <a:stretch>
            <a:fillRect/>
          </a:stretch>
        </p:blipFill>
        <p:spPr>
          <a:xfrm>
            <a:off x="4841825" y="3183135"/>
            <a:ext cx="190500" cy="190500"/>
          </a:xfrm>
          <a:prstGeom prst="rect">
            <a:avLst/>
          </a:prstGeom>
        </p:spPr>
      </p:pic>
      <p:pic>
        <p:nvPicPr>
          <p:cNvPr id="10" name="Picture 9" descr="image.png"/>
          <p:cNvPicPr>
            <a:picLocks noChangeAspect="1"/>
          </p:cNvPicPr>
          <p:nvPr/>
        </p:nvPicPr>
        <p:blipFill>
          <a:blip r:embed="rId7"/>
          <a:stretch>
            <a:fillRect/>
          </a:stretch>
        </p:blipFill>
        <p:spPr>
          <a:xfrm>
            <a:off x="8473975" y="3202185"/>
            <a:ext cx="190500" cy="190500"/>
          </a:xfrm>
          <a:prstGeom prst="rect">
            <a:avLst/>
          </a:prstGeom>
        </p:spPr>
      </p:pic>
      <p:sp>
        <p:nvSpPr>
          <p:cNvPr id="11" name="TextBox 10"/>
          <p:cNvSpPr txBox="1"/>
          <p:nvPr/>
        </p:nvSpPr>
        <p:spPr>
          <a:xfrm>
            <a:off x="762000" y="609600"/>
            <a:ext cx="11430000" cy="460920"/>
          </a:xfrm>
          <a:prstGeom prst="rect">
            <a:avLst/>
          </a:prstGeom>
          <a:noFill/>
        </p:spPr>
        <p:txBody>
          <a:bodyPr wrap="none" lIns="0" tIns="0" rIns="0" bIns="0" anchor="t">
            <a:spAutoFit/>
          </a:bodyPr>
          <a:lstStyle/>
          <a:p>
            <a:pPr algn="l">
              <a:lnSpc>
                <a:spcPts val="3629"/>
              </a:lnSpc>
            </a:pPr>
            <a:r>
              <a:rPr sz="3300" b="1" i="0" u="none">
                <a:solidFill>
                  <a:srgbClr val="0F172A"/>
                </a:solidFill>
                <a:latin typeface="Inter"/>
              </a:rPr>
              <a:t>What's Next (Differentiators)</a:t>
            </a:r>
          </a:p>
        </p:txBody>
      </p:sp>
      <p:sp>
        <p:nvSpPr>
          <p:cNvPr id="12" name="TextBox 11"/>
          <p:cNvSpPr txBox="1"/>
          <p:nvPr/>
        </p:nvSpPr>
        <p:spPr>
          <a:xfrm>
            <a:off x="762000" y="1184820"/>
            <a:ext cx="9525000" cy="228600"/>
          </a:xfrm>
          <a:prstGeom prst="rect">
            <a:avLst/>
          </a:prstGeom>
          <a:noFill/>
        </p:spPr>
        <p:txBody>
          <a:bodyPr wrap="none" lIns="0" tIns="0" rIns="0" bIns="0" anchor="t">
            <a:spAutoFit/>
          </a:bodyPr>
          <a:lstStyle/>
          <a:p>
            <a:pPr algn="l"/>
            <a:r>
              <a:rPr sz="1500" b="0" i="0" u="none" dirty="0">
                <a:solidFill>
                  <a:srgbClr val="475569"/>
                </a:solidFill>
                <a:latin typeface="Inter"/>
              </a:rPr>
              <a:t>Brownie points and advanced engineering capabilities.</a:t>
            </a:r>
          </a:p>
        </p:txBody>
      </p:sp>
      <p:sp>
        <p:nvSpPr>
          <p:cNvPr id="13" name="TextBox 12"/>
          <p:cNvSpPr txBox="1"/>
          <p:nvPr/>
        </p:nvSpPr>
        <p:spPr>
          <a:xfrm>
            <a:off x="1076325" y="3735585"/>
            <a:ext cx="2662832" cy="228600"/>
          </a:xfrm>
          <a:prstGeom prst="rect">
            <a:avLst/>
          </a:prstGeom>
          <a:noFill/>
        </p:spPr>
        <p:txBody>
          <a:bodyPr wrap="none" lIns="0" tIns="0" rIns="0" bIns="0" anchor="ctr">
            <a:spAutoFit/>
          </a:bodyPr>
          <a:lstStyle/>
          <a:p>
            <a:pPr algn="l"/>
            <a:r>
              <a:rPr sz="1500" b="1" i="0" u="none">
                <a:solidFill>
                  <a:srgbClr val="0F172A"/>
                </a:solidFill>
                <a:latin typeface="Inter"/>
              </a:rPr>
              <a:t>Architectural Ablation</a:t>
            </a:r>
          </a:p>
        </p:txBody>
      </p:sp>
      <p:sp>
        <p:nvSpPr>
          <p:cNvPr id="14" name="TextBox 13"/>
          <p:cNvSpPr txBox="1"/>
          <p:nvPr/>
        </p:nvSpPr>
        <p:spPr>
          <a:xfrm>
            <a:off x="1076325" y="4078485"/>
            <a:ext cx="2870150" cy="9144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Built to benchmark Hybrid BM25+Dense retrieval against pure LLM generation to optimize latency and cost per query.</a:t>
            </a:r>
          </a:p>
        </p:txBody>
      </p:sp>
      <p:sp>
        <p:nvSpPr>
          <p:cNvPr id="15" name="TextBox 14"/>
          <p:cNvSpPr txBox="1"/>
          <p:nvPr/>
        </p:nvSpPr>
        <p:spPr>
          <a:xfrm>
            <a:off x="4708475" y="3735585"/>
            <a:ext cx="2612826" cy="228600"/>
          </a:xfrm>
          <a:prstGeom prst="rect">
            <a:avLst/>
          </a:prstGeom>
          <a:noFill/>
        </p:spPr>
        <p:txBody>
          <a:bodyPr wrap="none" lIns="0" tIns="0" rIns="0" bIns="0" anchor="ctr">
            <a:spAutoFit/>
          </a:bodyPr>
          <a:lstStyle/>
          <a:p>
            <a:pPr algn="l"/>
            <a:r>
              <a:rPr sz="1500" b="1" i="0" u="none">
                <a:solidFill>
                  <a:srgbClr val="0F172A"/>
                </a:solidFill>
                <a:latin typeface="Inter"/>
              </a:rPr>
              <a:t>Graceful Degradation</a:t>
            </a:r>
          </a:p>
        </p:txBody>
      </p:sp>
      <p:sp>
        <p:nvSpPr>
          <p:cNvPr id="16" name="TextBox 15"/>
          <p:cNvSpPr txBox="1"/>
          <p:nvPr/>
        </p:nvSpPr>
        <p:spPr>
          <a:xfrm>
            <a:off x="4708475" y="4078485"/>
            <a:ext cx="2870150" cy="914400"/>
          </a:xfrm>
          <a:prstGeom prst="rect">
            <a:avLst/>
          </a:prstGeom>
          <a:noFill/>
        </p:spPr>
        <p:txBody>
          <a:bodyPr wrap="square" lIns="0" tIns="0" rIns="0" bIns="0" anchor="t">
            <a:spAutoFit/>
          </a:bodyPr>
          <a:lstStyle/>
          <a:p>
            <a:pPr algn="l">
              <a:lnSpc>
                <a:spcPts val="1800"/>
              </a:lnSpc>
            </a:pPr>
            <a:r>
              <a:rPr sz="1200" b="0" i="0" u="none">
                <a:solidFill>
                  <a:srgbClr val="475569"/>
                </a:solidFill>
                <a:latin typeface="Inter"/>
              </a:rPr>
              <a:t>Engine explicitly returns empty contexts with strict "no_match" metadata instead of hallucinating unsafe steps.</a:t>
            </a:r>
          </a:p>
        </p:txBody>
      </p:sp>
      <p:sp>
        <p:nvSpPr>
          <p:cNvPr id="17" name="TextBox 16"/>
          <p:cNvSpPr txBox="1"/>
          <p:nvPr/>
        </p:nvSpPr>
        <p:spPr>
          <a:xfrm>
            <a:off x="8340625" y="3743241"/>
            <a:ext cx="1875234" cy="228600"/>
          </a:xfrm>
          <a:prstGeom prst="rect">
            <a:avLst/>
          </a:prstGeom>
          <a:noFill/>
        </p:spPr>
        <p:txBody>
          <a:bodyPr wrap="none" lIns="0" tIns="0" rIns="0" bIns="0" anchor="ctr">
            <a:spAutoFit/>
          </a:bodyPr>
          <a:lstStyle/>
          <a:p>
            <a:pPr algn="l"/>
            <a:r>
              <a:rPr sz="1500" b="1" i="0" u="none" dirty="0">
                <a:solidFill>
                  <a:srgbClr val="0F172A"/>
                </a:solidFill>
                <a:latin typeface="Inter"/>
              </a:rPr>
              <a:t>Token Tracking</a:t>
            </a:r>
          </a:p>
        </p:txBody>
      </p:sp>
      <p:sp>
        <p:nvSpPr>
          <p:cNvPr id="18" name="TextBox 17"/>
          <p:cNvSpPr txBox="1"/>
          <p:nvPr/>
        </p:nvSpPr>
        <p:spPr>
          <a:xfrm>
            <a:off x="8352266" y="4030958"/>
            <a:ext cx="2870299" cy="685800"/>
          </a:xfrm>
          <a:prstGeom prst="rect">
            <a:avLst/>
          </a:prstGeom>
          <a:noFill/>
        </p:spPr>
        <p:txBody>
          <a:bodyPr wrap="square" lIns="0" tIns="0" rIns="0" bIns="0" anchor="t">
            <a:spAutoFit/>
          </a:bodyPr>
          <a:lstStyle/>
          <a:p>
            <a:pPr algn="l">
              <a:lnSpc>
                <a:spcPts val="1800"/>
              </a:lnSpc>
            </a:pPr>
            <a:r>
              <a:rPr sz="1200" b="0" i="0" u="none" dirty="0">
                <a:solidFill>
                  <a:srgbClr val="475569"/>
                </a:solidFill>
                <a:latin typeface="Inter"/>
              </a:rPr>
              <a:t>Endpoint exposes real-time inference cost calculation (prompt + completion tokens) on every non-cached call.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04E28A-8ABF-4E15-B9E1-B0F49C0EE29F}"/>
              </a:ext>
            </a:extLst>
          </p:cNvPr>
          <p:cNvSpPr>
            <a:spLocks noGrp="1"/>
          </p:cNvSpPr>
          <p:nvPr>
            <p:ph type="title"/>
          </p:nvPr>
        </p:nvSpPr>
        <p:spPr/>
        <p:txBody>
          <a:bodyPr>
            <a:normAutofit fontScale="90000"/>
          </a:bodyPr>
          <a:lstStyle/>
          <a:p>
            <a:r>
              <a:rPr lang="en-IN" b="1" dirty="0">
                <a:solidFill>
                  <a:schemeClr val="tx1">
                    <a:lumMod val="95000"/>
                    <a:lumOff val="5000"/>
                  </a:schemeClr>
                </a:solidFill>
                <a:latin typeface="Inter"/>
              </a:rPr>
              <a:t>Checklist- Updated on Public GitHub</a:t>
            </a:r>
          </a:p>
        </p:txBody>
      </p:sp>
      <p:sp>
        <p:nvSpPr>
          <p:cNvPr id="3" name="Content Placeholder 2">
            <a:extLst>
              <a:ext uri="{FF2B5EF4-FFF2-40B4-BE49-F238E27FC236}">
                <a16:creationId xmlns:a16="http://schemas.microsoft.com/office/drawing/2014/main" id="{DAB3E6F6-9D00-4480-90E6-EC3C876F2628}"/>
              </a:ext>
            </a:extLst>
          </p:cNvPr>
          <p:cNvSpPr>
            <a:spLocks noGrp="1"/>
          </p:cNvSpPr>
          <p:nvPr>
            <p:ph idx="1"/>
          </p:nvPr>
        </p:nvSpPr>
        <p:spPr/>
        <p:txBody>
          <a:bodyPr/>
          <a:lstStyle/>
          <a:p>
            <a:pPr marL="177800" indent="-177800">
              <a:spcAft>
                <a:spcPts val="500"/>
              </a:spcAft>
              <a:buSzPct val="100000"/>
              <a:buChar char="•"/>
            </a:pPr>
            <a:r>
              <a:rPr lang="en-US" sz="2800" dirty="0">
                <a:solidFill>
                  <a:schemeClr val="bg2">
                    <a:lumMod val="10000"/>
                  </a:schemeClr>
                </a:solidFill>
                <a:latin typeface="Inter"/>
                <a:ea typeface="Calibri" pitchFamily="34" charset="-122"/>
                <a:cs typeface="Calibri" pitchFamily="34" charset="-120"/>
              </a:rPr>
              <a:t>Working prototype code — public or shared GitHub repo (Y/N)</a:t>
            </a:r>
            <a:endParaRPr lang="en-US" sz="2800" dirty="0">
              <a:solidFill>
                <a:schemeClr val="bg2">
                  <a:lumMod val="10000"/>
                </a:schemeClr>
              </a:solidFill>
              <a:latin typeface="Inter"/>
            </a:endParaRPr>
          </a:p>
          <a:p>
            <a:pPr marL="177800" indent="-177800">
              <a:spcAft>
                <a:spcPts val="500"/>
              </a:spcAft>
              <a:buSzPct val="100000"/>
              <a:buChar char="•"/>
            </a:pPr>
            <a:r>
              <a:rPr lang="en-US" sz="2800" dirty="0">
                <a:solidFill>
                  <a:schemeClr val="bg2">
                    <a:lumMod val="10000"/>
                  </a:schemeClr>
                </a:solidFill>
                <a:latin typeface="Inter"/>
                <a:ea typeface="Calibri" pitchFamily="34" charset="-122"/>
                <a:cs typeface="Calibri" pitchFamily="34" charset="-120"/>
              </a:rPr>
              <a:t>README with reproducible setup instructions (Y/N)</a:t>
            </a:r>
            <a:endParaRPr lang="en-US" sz="2800" dirty="0">
              <a:solidFill>
                <a:schemeClr val="bg2">
                  <a:lumMod val="10000"/>
                </a:schemeClr>
              </a:solidFill>
              <a:latin typeface="Inter"/>
            </a:endParaRPr>
          </a:p>
          <a:p>
            <a:pPr marL="177800" indent="-177800">
              <a:spcAft>
                <a:spcPts val="500"/>
              </a:spcAft>
              <a:buSzPct val="100000"/>
              <a:buChar char="•"/>
            </a:pPr>
            <a:r>
              <a:rPr lang="en-US" sz="2800" dirty="0">
                <a:solidFill>
                  <a:schemeClr val="bg2">
                    <a:lumMod val="10000"/>
                  </a:schemeClr>
                </a:solidFill>
                <a:latin typeface="Inter"/>
                <a:ea typeface="Calibri" pitchFamily="34" charset="-122"/>
                <a:cs typeface="Calibri" pitchFamily="34" charset="-120"/>
              </a:rPr>
              <a:t>Demo video, max 5 minutes (YouTube or Drive link)</a:t>
            </a:r>
            <a:endParaRPr lang="en-US" sz="2800" dirty="0">
              <a:solidFill>
                <a:schemeClr val="bg2">
                  <a:lumMod val="10000"/>
                </a:schemeClr>
              </a:solidFill>
              <a:latin typeface="Inter"/>
            </a:endParaRPr>
          </a:p>
          <a:p>
            <a:pPr marL="177800" indent="-177800">
              <a:spcAft>
                <a:spcPts val="500"/>
              </a:spcAft>
              <a:buSzPct val="100000"/>
              <a:buChar char="•"/>
            </a:pPr>
            <a:r>
              <a:rPr lang="en-US" sz="2800" dirty="0">
                <a:solidFill>
                  <a:schemeClr val="bg2">
                    <a:lumMod val="10000"/>
                  </a:schemeClr>
                </a:solidFill>
                <a:latin typeface="Inter"/>
                <a:ea typeface="Calibri" pitchFamily="34" charset="-122"/>
                <a:cs typeface="Calibri" pitchFamily="34" charset="-120"/>
              </a:rPr>
              <a:t>Presentation file (PPT or PDF) (Y/N)</a:t>
            </a:r>
            <a:endParaRPr lang="en-US" sz="2800" dirty="0">
              <a:solidFill>
                <a:schemeClr val="bg2">
                  <a:lumMod val="10000"/>
                </a:schemeClr>
              </a:solidFill>
              <a:latin typeface="Inter"/>
            </a:endParaRPr>
          </a:p>
          <a:p>
            <a:pPr marL="0" indent="0">
              <a:buNone/>
            </a:pPr>
            <a:endParaRPr lang="en-IN" dirty="0"/>
          </a:p>
        </p:txBody>
      </p:sp>
    </p:spTree>
    <p:extLst>
      <p:ext uri="{BB962C8B-B14F-4D97-AF65-F5344CB8AC3E}">
        <p14:creationId xmlns:p14="http://schemas.microsoft.com/office/powerpoint/2010/main" val="18069930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13</TotalTime>
  <Words>962</Words>
  <Application>Microsoft Office PowerPoint</Application>
  <PresentationFormat>Widescreen</PresentationFormat>
  <Paragraphs>101</Paragraphs>
  <Slides>10</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Calibri</vt:lpstr>
      <vt:lpstr>Inter</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Checklist- Updated on Public GitHub</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Angad</dc:creator>
  <cp:keywords/>
  <dc:description>generated using python-pptx</dc:description>
  <cp:lastModifiedBy>angad singh</cp:lastModifiedBy>
  <cp:revision>2</cp:revision>
  <dcterms:created xsi:type="dcterms:W3CDTF">2013-01-27T09:14:16Z</dcterms:created>
  <dcterms:modified xsi:type="dcterms:W3CDTF">2026-09-27T12:08:20Z</dcterms:modified>
  <cp:category/>
</cp:coreProperties>
</file>